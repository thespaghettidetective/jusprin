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313c3e36334b0b" /><Relationship Type="http://schemas.openxmlformats.org/officeDocument/2006/relationships/extended-properties" Target="/docProps/app.xml" Id="R07d51c2310a94d7c" /><Relationship Type="http://schemas.openxmlformats.org/officeDocument/2006/relationships/officeDocument" Target="/ppt/presentation.xml" Id="Rb51bfc7ab85a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85d9e557e64816"/>
  </p:sldMasterIdLst>
  <p:notesMasterIdLst>
    <p:notesMasterId xmlns:r="http://schemas.openxmlformats.org/officeDocument/2006/relationships" r:id="R82da06e105c641e5"/>
  </p:notesMasterIdLst>
  <p:sldIdLst>
    <p:sldId xmlns:r="http://schemas.openxmlformats.org/officeDocument/2006/relationships" id="256" r:id="R9c4565adc6364ed2"/>
    <p:sldId xmlns:r="http://schemas.openxmlformats.org/officeDocument/2006/relationships" id="257" r:id="R9576893ebfdc43f4"/>
    <p:sldId xmlns:r="http://schemas.openxmlformats.org/officeDocument/2006/relationships" id="258" r:id="R2c1a6894840446dc"/>
    <p:sldId xmlns:r="http://schemas.openxmlformats.org/officeDocument/2006/relationships" id="259" r:id="Reb20148f77c54b63"/>
    <p:sldId xmlns:r="http://schemas.openxmlformats.org/officeDocument/2006/relationships" id="260" r:id="R091bd61dea4f42d1"/>
    <p:sldId xmlns:r="http://schemas.openxmlformats.org/officeDocument/2006/relationships" id="261" r:id="Rce3ccf84606a4cd3"/>
    <p:sldId xmlns:r="http://schemas.openxmlformats.org/officeDocument/2006/relationships" id="262" r:id="R610280f11ad7409b"/>
    <p:sldId xmlns:r="http://schemas.openxmlformats.org/officeDocument/2006/relationships" id="263" r:id="R4c50be74f38b411f"/>
    <p:sldId xmlns:r="http://schemas.openxmlformats.org/officeDocument/2006/relationships" id="264" r:id="R75a095c61aad45fc"/>
    <p:sldId xmlns:r="http://schemas.openxmlformats.org/officeDocument/2006/relationships" id="265" r:id="Rb20c3d847a844a6f"/>
    <p:sldId xmlns:r="http://schemas.openxmlformats.org/officeDocument/2006/relationships" id="266" r:id="R5cdcdaa62f67487d"/>
    <p:sldId xmlns:r="http://schemas.openxmlformats.org/officeDocument/2006/relationships" id="267" r:id="R8b0bdfdf9edc48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c92586808ab4cb5" /><Relationship Type="http://schemas.openxmlformats.org/officeDocument/2006/relationships/slideMaster" Target="/ppt/slideMasters/slideMaster1.xml" Id="Rb485d9e557e64816" /><Relationship Type="http://schemas.openxmlformats.org/officeDocument/2006/relationships/notesMaster" Target="/ppt/notesMasters/notesMaster1.xml" Id="R82da06e105c641e5" /><Relationship Type="http://schemas.openxmlformats.org/officeDocument/2006/relationships/presProps" Target="/ppt/presProps.xml" Id="R9fffa8a418a64b38" /><Relationship Type="http://schemas.openxmlformats.org/officeDocument/2006/relationships/tableStyles" Target="/ppt/tableStyles.xml" Id="R3a637334d89149aa" /><Relationship Type="http://schemas.openxmlformats.org/officeDocument/2006/relationships/slide" Target="/ppt/slides/slide1.xml" Id="R9c4565adc6364ed2" /><Relationship Type="http://schemas.openxmlformats.org/officeDocument/2006/relationships/slide" Target="/ppt/slides/slide2.xml" Id="R9576893ebfdc43f4" /><Relationship Type="http://schemas.openxmlformats.org/officeDocument/2006/relationships/slide" Target="/ppt/slides/slide3.xml" Id="R2c1a6894840446dc" /><Relationship Type="http://schemas.openxmlformats.org/officeDocument/2006/relationships/slide" Target="/ppt/slides/slide4.xml" Id="Reb20148f77c54b63" /><Relationship Type="http://schemas.openxmlformats.org/officeDocument/2006/relationships/slide" Target="/ppt/slides/slide5.xml" Id="R091bd61dea4f42d1" /><Relationship Type="http://schemas.openxmlformats.org/officeDocument/2006/relationships/slide" Target="/ppt/slides/slide6.xml" Id="Rce3ccf84606a4cd3" /><Relationship Type="http://schemas.openxmlformats.org/officeDocument/2006/relationships/slide" Target="/ppt/slides/slide7.xml" Id="R610280f11ad7409b" /><Relationship Type="http://schemas.openxmlformats.org/officeDocument/2006/relationships/slide" Target="/ppt/slides/slide8.xml" Id="R4c50be74f38b411f" /><Relationship Type="http://schemas.openxmlformats.org/officeDocument/2006/relationships/slide" Target="/ppt/slides/slide9.xml" Id="R75a095c61aad45fc" /><Relationship Type="http://schemas.openxmlformats.org/officeDocument/2006/relationships/slide" Target="/ppt/slides/slide10.xml" Id="Rb20c3d847a844a6f" /><Relationship Type="http://schemas.openxmlformats.org/officeDocument/2006/relationships/slide" Target="/ppt/slides/slide11.xml" Id="R5cdcdaa62f67487d" /><Relationship Type="http://schemas.openxmlformats.org/officeDocument/2006/relationships/slide" Target="/ppt/slides/slide12.xml" Id="R8b0bdfdf9edc48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3066856bf4641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fbe6da67749a9" /><Relationship Type="http://schemas.openxmlformats.org/officeDocument/2006/relationships/notesMaster" Target="/ppt/notesMasters/notesMaster1.xml" Id="R1b190fe5256240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c74dc7201384716" /><Relationship Type="http://schemas.openxmlformats.org/officeDocument/2006/relationships/notesMaster" Target="/ppt/notesMasters/notesMaster1.xml" Id="R388845ed53db4e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6633e7a5484af0" /><Relationship Type="http://schemas.openxmlformats.org/officeDocument/2006/relationships/notesMaster" Target="/ppt/notesMasters/notesMaster1.xml" Id="Rfcbdd5c307a44b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22944186fb40fa" /><Relationship Type="http://schemas.openxmlformats.org/officeDocument/2006/relationships/notesMaster" Target="/ppt/notesMasters/notesMaster1.xml" Id="Rf71e9b6249d94d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85e0eb37904b8c" /><Relationship Type="http://schemas.openxmlformats.org/officeDocument/2006/relationships/notesMaster" Target="/ppt/notesMasters/notesMaster1.xml" Id="R25d4f11b28ff4e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f401f969974895" /><Relationship Type="http://schemas.openxmlformats.org/officeDocument/2006/relationships/notesMaster" Target="/ppt/notesMasters/notesMaster1.xml" Id="R70094beff82549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09289195834605" /><Relationship Type="http://schemas.openxmlformats.org/officeDocument/2006/relationships/notesMaster" Target="/ppt/notesMasters/notesMaster1.xml" Id="R5f22947f37504d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630f47e9d0414f" /><Relationship Type="http://schemas.openxmlformats.org/officeDocument/2006/relationships/notesMaster" Target="/ppt/notesMasters/notesMaster1.xml" Id="Ra6a427b9af39480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65aec006564203" /><Relationship Type="http://schemas.openxmlformats.org/officeDocument/2006/relationships/notesMaster" Target="/ppt/notesMasters/notesMaster1.xml" Id="Ra9c693ea810a45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59982f24d464737" /><Relationship Type="http://schemas.openxmlformats.org/officeDocument/2006/relationships/notesMaster" Target="/ppt/notesMasters/notesMaster1.xml" Id="R2b81a3965d6a48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5ad7d1f4f34426" /><Relationship Type="http://schemas.openxmlformats.org/officeDocument/2006/relationships/notesMaster" Target="/ppt/notesMasters/notesMaster1.xml" Id="Rc08f0af1f63549c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222d6a3d62459b" /><Relationship Type="http://schemas.openxmlformats.org/officeDocument/2006/relationships/notesMaster" Target="/ppt/notesMasters/notesMaster1.xml" Id="Rbd4e5f1c8a5c4b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JusPrin logo: user-provided asset, restored from local repository revision 6eecb78b19.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c74ea4fe63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d4f3105d0bc45fa" /><Relationship Type="http://schemas.openxmlformats.org/officeDocument/2006/relationships/slideLayout" Target="/ppt/slideLayouts/slideLayout1.xml" Id="Rc2be6b37a71f48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be6b37a71f48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affe8c379473b" /><Relationship Type="http://schemas.openxmlformats.org/officeDocument/2006/relationships/image" Target="/ppt/media/image.png" Id="Rd88675ef3db84af5" /><Relationship Type="http://schemas.openxmlformats.org/officeDocument/2006/relationships/image" Target="/ppt/media/image2.png" Id="R016c69b4fa4645b3" /><Relationship Type="http://schemas.openxmlformats.org/officeDocument/2006/relationships/notesSlide" Target="/ppt/notesSlides/notesSlide1.xml" Id="R7bc774604e53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fb75e014743d9" /><Relationship Type="http://schemas.openxmlformats.org/officeDocument/2006/relationships/notesSlide" Target="/ppt/notesSlides/notesSlide2.xml" Id="Ree8c7312503b41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e4d02c6cf4820" /><Relationship Type="http://schemas.openxmlformats.org/officeDocument/2006/relationships/image" Target="/ppt/media/image3.png" Id="R853de9baabb84d5e" /><Relationship Type="http://schemas.openxmlformats.org/officeDocument/2006/relationships/notesSlide" Target="/ppt/notesSlides/notesSlide3.xml" Id="Rcb98c1dfc8bc4d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46b69ead254cc1" /><Relationship Type="http://schemas.openxmlformats.org/officeDocument/2006/relationships/image" Target="/ppt/media/image4.png" Id="R2e27a1dad27a455b" /><Relationship Type="http://schemas.openxmlformats.org/officeDocument/2006/relationships/image" Target="/ppt/media/image5.png" Id="Reae8e5cc9f89430d" /><Relationship Type="http://schemas.openxmlformats.org/officeDocument/2006/relationships/image" Target="/ppt/media/image.svg" Id="Rf97393863b5e4985" /><Relationship Type="http://schemas.openxmlformats.org/officeDocument/2006/relationships/notesSlide" Target="/ppt/notesSlides/notesSlide4.xml" Id="Rf99e0bc4152149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be231e6da9430c" /><Relationship Type="http://schemas.openxmlformats.org/officeDocument/2006/relationships/notesSlide" Target="/ppt/notesSlides/notesSlide5.xml" Id="R7f1488c18f1546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7d1b36b1d4213" /><Relationship Type="http://schemas.openxmlformats.org/officeDocument/2006/relationships/notesSlide" Target="/ppt/notesSlides/notesSlide6.xml" Id="R47b028ab39554e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dcf57327e48ac" /><Relationship Type="http://schemas.openxmlformats.org/officeDocument/2006/relationships/image" Target="/ppt/media/image6.png" Id="Re65f35e9a3444c51" /><Relationship Type="http://schemas.openxmlformats.org/officeDocument/2006/relationships/notesSlide" Target="/ppt/notesSlides/notesSlide7.xml" Id="Rfc453062df5241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a1f60d9ad4339" /><Relationship Type="http://schemas.openxmlformats.org/officeDocument/2006/relationships/notesSlide" Target="/ppt/notesSlides/notesSlide8.xml" Id="R774a1c74b29640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f76d553e24d61" /><Relationship Type="http://schemas.openxmlformats.org/officeDocument/2006/relationships/image" Target="/ppt/media/image7.png" Id="R3aa605ef6e684c17" /><Relationship Type="http://schemas.openxmlformats.org/officeDocument/2006/relationships/image" Target="/ppt/media/image8.png" Id="Rf2699be6cd42426e" /><Relationship Type="http://schemas.openxmlformats.org/officeDocument/2006/relationships/notesSlide" Target="/ppt/notesSlides/notesSlide9.xml" Id="R2678ca42ebcd4c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39ccbfd5d4589" /><Relationship Type="http://schemas.openxmlformats.org/officeDocument/2006/relationships/image" Target="/ppt/media/image9.png" Id="R378f6c6060004556" /><Relationship Type="http://schemas.openxmlformats.org/officeDocument/2006/relationships/image" Target="/ppt/media/image2.svg" Id="R536ee627e4c34476" /><Relationship Type="http://schemas.openxmlformats.org/officeDocument/2006/relationships/notesSlide" Target="/ppt/notesSlides/notesSlide10.xml" Id="R303d8eaed5ab4f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c5a6156ec41aa" /><Relationship Type="http://schemas.openxmlformats.org/officeDocument/2006/relationships/image" Target="/ppt/media/image10.png" Id="Rb0f3e25b58da4916" /><Relationship Type="http://schemas.openxmlformats.org/officeDocument/2006/relationships/image" Target="/ppt/media/image11.png" Id="Rb7c786d7c56b4066" /><Relationship Type="http://schemas.openxmlformats.org/officeDocument/2006/relationships/image" Target="/ppt/media/image3.svg" Id="R31bd7bcaa0a9409f" /><Relationship Type="http://schemas.openxmlformats.org/officeDocument/2006/relationships/notesSlide" Target="/ppt/notesSlides/notesSlide11.xml" Id="R6fb24d8cc2f6452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a8026c43c4419e" /><Relationship Type="http://schemas.openxmlformats.org/officeDocument/2006/relationships/image" Target="/ppt/media/image12.png" Id="R8dda8948220147e2" /><Relationship Type="http://schemas.openxmlformats.org/officeDocument/2006/relationships/image" Target="/ppt/media/image4.svg" Id="Rdb88bca668de4dd0" /><Relationship Type="http://schemas.openxmlformats.org/officeDocument/2006/relationships/notesSlide" Target="/ppt/notesSlides/notesSlide12.xml" Id="Rd8a3f2f1e9a143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ver-orbit">
            <a:extLst xmlns:a="http://schemas.openxmlformats.org/drawingml/2006/main">
              <a:ext uri="{FF2B5EF4-FFF2-40B4-BE49-F238E27FC236}">
                <a16:creationId xmlns:a16="http://schemas.microsoft.com/office/drawing/2014/main" id="{88482B81-4800-4D78-84CE-9415208D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-904875"/>
            <a:ext cx="4953000" cy="4953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DFEB"/>
            </a:solidFill>
            <a:prstDash val="solid"/>
          </a:ln>
        </p:spPr>
      </p:sp>
      <p:sp>
        <p:nvSpPr>
          <p:cNvPr id="2" name="cover-slash">
            <a:extLst xmlns:a="http://schemas.openxmlformats.org/drawingml/2006/main">
              <a:ext uri="{FF2B5EF4-FFF2-40B4-BE49-F238E27FC236}">
                <a16:creationId xmlns:a16="http://schemas.microsoft.com/office/drawing/2014/main" id="{FA695054-A3AB-435E-BDB2-E90DE2C1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8524875" y="1143000"/>
            <a:ext cx="409575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57DAC6EC-96B2-47F1-AC90-17725EAB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52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VISUAL BRAND KIT / 2026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675ef3db84af5"/>
          <a:stretch xmlns:a="http://schemas.openxmlformats.org/drawingml/2006/main"/>
        </p:blipFill>
        <p:spPr>
          <a:xfrm xmlns:a="http://schemas.openxmlformats.org/drawingml/2006/main">
            <a:off x="609600" y="1699437"/>
            <a:ext cx="6667500" cy="2049426"/>
          </a:xfrm>
          <a:prstGeom xmlns:a="http://schemas.openxmlformats.org/drawingml/2006/main" prst="rect">
            <a:avLst/>
          </a:prstGeom>
        </p:spPr>
      </p:pic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ED16FE2-DB27-420A-B03B-97125A86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191000"/>
            <a:ext cx="704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A focused identity for a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31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frictionless print experience.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B20B00C-8F57-4754-9581-3798BF81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5816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Logo, color, type, spacing, shape language, usage rules, and applications.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c69b4fa4645b3"/>
          <a:stretch xmlns:a="http://schemas.openxmlformats.org/drawingml/2006/main"/>
        </p:blipFill>
        <p:spPr>
          <a:xfrm xmlns:a="http://schemas.openxmlformats.org/drawingml/2006/main">
            <a:off x="8667750" y="2762250"/>
            <a:ext cx="2333625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footer-1">
            <a:extLst xmlns:a="http://schemas.openxmlformats.org/drawingml/2006/main">
              <a:ext uri="{FF2B5EF4-FFF2-40B4-BE49-F238E27FC236}">
                <a16:creationId xmlns:a16="http://schemas.microsoft.com/office/drawing/2014/main" id="{CC7716D6-DF6F-42D3-B5FF-A35B1021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9" name="page-1">
            <a:extLst xmlns:a="http://schemas.openxmlformats.org/drawingml/2006/main">
              <a:ext uri="{FF2B5EF4-FFF2-40B4-BE49-F238E27FC236}">
                <a16:creationId xmlns:a16="http://schemas.microsoft.com/office/drawing/2014/main" id="{5452B00F-368C-44D3-AFAE-554B4C13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40268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">
            <a:extLst xmlns:a="http://schemas.openxmlformats.org/drawingml/2006/main">
              <a:ext uri="{FF2B5EF4-FFF2-40B4-BE49-F238E27FC236}">
                <a16:creationId xmlns:a16="http://schemas.microsoft.com/office/drawing/2014/main" id="{0CD2FB2B-5B49-4008-B5DB-A2A62C00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BRAND FOUNDATION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3CDC8229-4BC6-4C2E-BB5D-7628CC07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Make advanced printing feel immediate.</a:t>
            </a:r>
          </a:p>
        </p:txBody>
      </p:sp>
      <p:sp>
        <p:nvSpPr>
          <p:cNvPr id="3" name="positioning">
            <a:extLst xmlns:a="http://schemas.openxmlformats.org/drawingml/2006/main">
              <a:ext uri="{FF2B5EF4-FFF2-40B4-BE49-F238E27FC236}">
                <a16:creationId xmlns:a16="http://schemas.microsoft.com/office/drawing/2014/main" id="{DC05C734-833D-4737-A34F-F2073A2D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14500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4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JusPrin is the confident path from model to machine - a focused 3D-printing experience that removes detours without hiding control.</a:t>
            </a:r>
          </a:p>
        </p:txBody>
      </p:sp>
      <p:sp>
        <p:nvSpPr>
          <p:cNvPr id="4" name="position-rule">
            <a:extLst xmlns:a="http://schemas.openxmlformats.org/drawingml/2006/main">
              <a:ext uri="{FF2B5EF4-FFF2-40B4-BE49-F238E27FC236}">
                <a16:creationId xmlns:a16="http://schemas.microsoft.com/office/drawing/2014/main" id="{2F028FFD-7BFF-43A7-A3B3-67BDA392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67050"/>
            <a:ext cx="10839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ait-num-0">
            <a:extLst xmlns:a="http://schemas.openxmlformats.org/drawingml/2006/main">
              <a:ext uri="{FF2B5EF4-FFF2-40B4-BE49-F238E27FC236}">
                <a16:creationId xmlns:a16="http://schemas.microsoft.com/office/drawing/2014/main" id="{5BC191C7-15F2-4A20-972D-CBC40C5A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6" name="trait-0">
            <a:extLst xmlns:a="http://schemas.openxmlformats.org/drawingml/2006/main">
              <a:ext uri="{FF2B5EF4-FFF2-40B4-BE49-F238E27FC236}">
                <a16:creationId xmlns:a16="http://schemas.microsoft.com/office/drawing/2014/main" id="{D84CA22D-8146-47A3-8367-A11CAB7D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10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Focused</a:t>
            </a:r>
          </a:p>
        </p:txBody>
      </p:sp>
      <p:sp>
        <p:nvSpPr>
          <p:cNvPr id="7" name="trait-desc-0">
            <a:extLst xmlns:a="http://schemas.openxmlformats.org/drawingml/2006/main">
              <a:ext uri="{FF2B5EF4-FFF2-40B4-BE49-F238E27FC236}">
                <a16:creationId xmlns:a16="http://schemas.microsoft.com/office/drawing/2014/main" id="{317A6FCD-FECE-4049-BBD2-99A1A009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257675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Every element earns its place.</a:t>
            </a:r>
          </a:p>
        </p:txBody>
      </p:sp>
      <p:sp>
        <p:nvSpPr>
          <p:cNvPr id="8" name="trait-num-1">
            <a:extLst xmlns:a="http://schemas.openxmlformats.org/drawingml/2006/main">
              <a:ext uri="{FF2B5EF4-FFF2-40B4-BE49-F238E27FC236}">
                <a16:creationId xmlns:a16="http://schemas.microsoft.com/office/drawing/2014/main" id="{EFF4FEBB-6F08-42CC-9CEC-64CDEA68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9" name="trait-1">
            <a:extLst xmlns:a="http://schemas.openxmlformats.org/drawingml/2006/main">
              <a:ext uri="{FF2B5EF4-FFF2-40B4-BE49-F238E27FC236}">
                <a16:creationId xmlns:a16="http://schemas.microsoft.com/office/drawing/2014/main" id="{5ADCD511-80B2-4473-A398-DC967D8D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810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Assured</a:t>
            </a:r>
          </a:p>
        </p:txBody>
      </p:sp>
      <p:sp>
        <p:nvSpPr>
          <p:cNvPr id="10" name="trait-desc-1">
            <a:extLst xmlns:a="http://schemas.openxmlformats.org/drawingml/2006/main">
              <a:ext uri="{FF2B5EF4-FFF2-40B4-BE49-F238E27FC236}">
                <a16:creationId xmlns:a16="http://schemas.microsoft.com/office/drawing/2014/main" id="{C5E52BC2-930E-44AE-A74F-1481044C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4257675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Calm guidance, decisive actions.</a:t>
            </a:r>
          </a:p>
        </p:txBody>
      </p:sp>
      <p:sp>
        <p:nvSpPr>
          <p:cNvPr id="11" name="trait-num-2">
            <a:extLst xmlns:a="http://schemas.openxmlformats.org/drawingml/2006/main">
              <a:ext uri="{FF2B5EF4-FFF2-40B4-BE49-F238E27FC236}">
                <a16:creationId xmlns:a16="http://schemas.microsoft.com/office/drawing/2014/main" id="{36F4442D-55CB-49D6-BD66-6D84B6A2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trait-2">
            <a:extLst xmlns:a="http://schemas.openxmlformats.org/drawingml/2006/main">
              <a:ext uri="{FF2B5EF4-FFF2-40B4-BE49-F238E27FC236}">
                <a16:creationId xmlns:a16="http://schemas.microsoft.com/office/drawing/2014/main" id="{9FE36A19-61E9-478F-832A-B4C8040B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810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Inventive</a:t>
            </a:r>
          </a:p>
        </p:txBody>
      </p:sp>
      <p:sp>
        <p:nvSpPr>
          <p:cNvPr id="13" name="trait-desc-2">
            <a:extLst xmlns:a="http://schemas.openxmlformats.org/drawingml/2006/main">
              <a:ext uri="{FF2B5EF4-FFF2-40B4-BE49-F238E27FC236}">
                <a16:creationId xmlns:a16="http://schemas.microsoft.com/office/drawing/2014/main" id="{513B6B6B-2B65-4DC8-9D36-D9E72BF9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257675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Technical, never intimidating.</a:t>
            </a:r>
          </a:p>
        </p:txBody>
      </p:sp>
      <p:sp>
        <p:nvSpPr>
          <p:cNvPr id="14" name="trait-num-3">
            <a:extLst xmlns:a="http://schemas.openxmlformats.org/drawingml/2006/main">
              <a:ext uri="{FF2B5EF4-FFF2-40B4-BE49-F238E27FC236}">
                <a16:creationId xmlns:a16="http://schemas.microsoft.com/office/drawing/2014/main" id="{949EB793-8F7C-4210-AF47-8835DC4E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34766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5" name="trait-3">
            <a:extLst xmlns:a="http://schemas.openxmlformats.org/drawingml/2006/main">
              <a:ext uri="{FF2B5EF4-FFF2-40B4-BE49-F238E27FC236}">
                <a16:creationId xmlns:a16="http://schemas.microsoft.com/office/drawing/2014/main" id="{68DA9B15-C26A-4095-925F-31AF51D4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38100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Approachable</a:t>
            </a:r>
          </a:p>
        </p:txBody>
      </p:sp>
      <p:sp>
        <p:nvSpPr>
          <p:cNvPr id="16" name="trait-desc-3">
            <a:extLst xmlns:a="http://schemas.openxmlformats.org/drawingml/2006/main">
              <a:ext uri="{FF2B5EF4-FFF2-40B4-BE49-F238E27FC236}">
                <a16:creationId xmlns:a16="http://schemas.microsoft.com/office/drawing/2014/main" id="{F3EE3C04-D3E0-4679-97FA-F9D7D049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4257675"/>
            <a:ext cx="23336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Plain language over jargon.</a:t>
            </a:r>
          </a:p>
        </p:txBody>
      </p:sp>
      <p:sp>
        <p:nvSpPr>
          <p:cNvPr id="17" name="voice">
            <a:extLst xmlns:a="http://schemas.openxmlformats.org/drawingml/2006/main">
              <a:ext uri="{FF2B5EF4-FFF2-40B4-BE49-F238E27FC236}">
                <a16:creationId xmlns:a16="http://schemas.microsoft.com/office/drawing/2014/main" id="{28494554-1DF0-4FC7-BECE-09F29429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5626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6F4F84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6F4F84"/>
                </a:solidFill>
                <a:latin typeface="Avenir Next"/>
                <a:ea typeface="Avenir Next"/>
                <a:cs typeface="Avenir Next"/>
              </a:rPr>
              <a:t>Voice: direct, capable, optimistic. Never cute, cryptic, or over-engineered.</a:t>
            </a:r>
          </a:p>
        </p:txBody>
      </p:sp>
      <p:sp>
        <p:nvSpPr>
          <p:cNvPr id="18" name="footer-2">
            <a:extLst xmlns:a="http://schemas.openxmlformats.org/drawingml/2006/main">
              <a:ext uri="{FF2B5EF4-FFF2-40B4-BE49-F238E27FC236}">
                <a16:creationId xmlns:a16="http://schemas.microsoft.com/office/drawing/2014/main" id="{A53AB061-5591-4106-988F-14F20BAB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19" name="page-2">
            <a:extLst xmlns:a="http://schemas.openxmlformats.org/drawingml/2006/main">
              <a:ext uri="{FF2B5EF4-FFF2-40B4-BE49-F238E27FC236}">
                <a16:creationId xmlns:a16="http://schemas.microsoft.com/office/drawing/2014/main" id="{57DF7D38-6A4B-4E0C-89A4-059503D3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42743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3">
            <a:extLst xmlns:a="http://schemas.openxmlformats.org/drawingml/2006/main">
              <a:ext uri="{FF2B5EF4-FFF2-40B4-BE49-F238E27FC236}">
                <a16:creationId xmlns:a16="http://schemas.microsoft.com/office/drawing/2014/main" id="{578CD2DB-F1AD-4A25-91A8-DCF42BA4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LOGO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0442A47-A5F8-4398-939B-EA8B864D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The mark is the system's visual anchor.</a:t>
            </a:r>
          </a:p>
        </p:txBody>
      </p:sp>
      <p:sp>
        <p:nvSpPr>
          <p:cNvPr id="3" name="logo-stage">
            <a:extLst xmlns:a="http://schemas.openxmlformats.org/drawingml/2006/main">
              <a:ext uri="{FF2B5EF4-FFF2-40B4-BE49-F238E27FC236}">
                <a16:creationId xmlns:a16="http://schemas.microsoft.com/office/drawing/2014/main" id="{A211D6D5-CEFD-48FA-885E-D3214F3F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76400"/>
            <a:ext cx="4476750" cy="4000500"/>
          </a:xfrm>
          <a:prstGeom xmlns:a="http://schemas.openxmlformats.org/drawingml/2006/main" prst="roundRect">
            <a:avLst>
              <a:gd name="adj" fmla="val 61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de9baabb84d5e"/>
          <a:stretch xmlns:a="http://schemas.openxmlformats.org/drawingml/2006/main"/>
        </p:blipFill>
        <p:spPr>
          <a:xfrm xmlns:a="http://schemas.openxmlformats.org/drawingml/2006/main">
            <a:off x="1514475" y="243840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5" name="interpretation-heading">
            <a:extLst xmlns:a="http://schemas.openxmlformats.org/drawingml/2006/main">
              <a:ext uri="{FF2B5EF4-FFF2-40B4-BE49-F238E27FC236}">
                <a16:creationId xmlns:a16="http://schemas.microsoft.com/office/drawing/2014/main" id="{A7BF5FB6-3D9F-4852-9EC1-A930FEC3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1828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6F4F84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6F4F84"/>
                </a:solidFill>
                <a:latin typeface="Avenir Next"/>
                <a:ea typeface="Avenir Next"/>
                <a:cs typeface="Avenir Next"/>
              </a:rPr>
              <a:t>Design interpretation</a:t>
            </a:r>
          </a:p>
        </p:txBody>
      </p:sp>
      <p:sp>
        <p:nvSpPr>
          <p:cNvPr id="6" name="dot-0">
            <a:extLst xmlns:a="http://schemas.openxmlformats.org/drawingml/2006/main">
              <a:ext uri="{FF2B5EF4-FFF2-40B4-BE49-F238E27FC236}">
                <a16:creationId xmlns:a16="http://schemas.microsoft.com/office/drawing/2014/main" id="{6EC1DC36-C3BE-4DEC-9F99-F686ACFB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2495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ogo-point-0">
            <a:extLst xmlns:a="http://schemas.openxmlformats.org/drawingml/2006/main">
              <a:ext uri="{FF2B5EF4-FFF2-40B4-BE49-F238E27FC236}">
                <a16:creationId xmlns:a16="http://schemas.microsoft.com/office/drawing/2014/main" id="{BD898412-F3B0-44A9-A0AF-882E5EE0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24288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Orbit</a:t>
            </a:r>
          </a:p>
        </p:txBody>
      </p:sp>
      <p:sp>
        <p:nvSpPr>
          <p:cNvPr id="8" name="logo-point-desc-0">
            <a:extLst xmlns:a="http://schemas.openxmlformats.org/drawingml/2006/main">
              <a:ext uri="{FF2B5EF4-FFF2-40B4-BE49-F238E27FC236}">
                <a16:creationId xmlns:a16="http://schemas.microsoft.com/office/drawing/2014/main" id="{F891759F-071B-47A3-A709-C1445339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26955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A continuous loop suggests an end-to-end print journey.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58DAE80B-1B44-449D-A88A-61F1B06F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ogo-point-1">
            <a:extLst xmlns:a="http://schemas.openxmlformats.org/drawingml/2006/main">
              <a:ext uri="{FF2B5EF4-FFF2-40B4-BE49-F238E27FC236}">
                <a16:creationId xmlns:a16="http://schemas.microsoft.com/office/drawing/2014/main" id="{410FEFF5-828A-4B0E-8D26-6E8B1A29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2480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Crossing diagonals</a:t>
            </a:r>
          </a:p>
        </p:txBody>
      </p:sp>
      <p:sp>
        <p:nvSpPr>
          <p:cNvPr id="11" name="logo-point-desc-1">
            <a:extLst xmlns:a="http://schemas.openxmlformats.org/drawingml/2006/main">
              <a:ext uri="{FF2B5EF4-FFF2-40B4-BE49-F238E27FC236}">
                <a16:creationId xmlns:a16="http://schemas.microsoft.com/office/drawing/2014/main" id="{EEB60E8D-910B-4EE7-A546-60DC1DF1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35147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Precision and momentum converge at the center.</a:t>
            </a:r>
          </a:p>
        </p:txBody>
      </p:sp>
      <p:sp>
        <p:nvSpPr>
          <p:cNvPr id="12" name="dot-2">
            <a:extLst xmlns:a="http://schemas.openxmlformats.org/drawingml/2006/main">
              <a:ext uri="{FF2B5EF4-FFF2-40B4-BE49-F238E27FC236}">
                <a16:creationId xmlns:a16="http://schemas.microsoft.com/office/drawing/2014/main" id="{9F8B2018-5FB9-4F71-9224-01DD954C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133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logo-point-2">
            <a:extLst xmlns:a="http://schemas.openxmlformats.org/drawingml/2006/main">
              <a:ext uri="{FF2B5EF4-FFF2-40B4-BE49-F238E27FC236}">
                <a16:creationId xmlns:a16="http://schemas.microsoft.com/office/drawing/2014/main" id="{E3ECEA6A-E051-42DF-9CF8-6E5B5997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0671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Open circle</a:t>
            </a:r>
          </a:p>
        </p:txBody>
      </p:sp>
      <p:sp>
        <p:nvSpPr>
          <p:cNvPr id="14" name="logo-point-desc-2">
            <a:extLst xmlns:a="http://schemas.openxmlformats.org/drawingml/2006/main">
              <a:ext uri="{FF2B5EF4-FFF2-40B4-BE49-F238E27FC236}">
                <a16:creationId xmlns:a16="http://schemas.microsoft.com/office/drawing/2014/main" id="{77DFFBB7-E927-49EE-BC4C-DBDE945D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33387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Control stays flexible, not closed or prescriptive.</a:t>
            </a:r>
          </a:p>
        </p:txBody>
      </p:sp>
      <p:sp>
        <p:nvSpPr>
          <p:cNvPr id="15" name="dot-3">
            <a:extLst xmlns:a="http://schemas.openxmlformats.org/drawingml/2006/main">
              <a:ext uri="{FF2B5EF4-FFF2-40B4-BE49-F238E27FC236}">
                <a16:creationId xmlns:a16="http://schemas.microsoft.com/office/drawing/2014/main" id="{D89E79DE-0B36-4374-A267-0ABCA0F4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34050" y="4953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ogo-point-3">
            <a:extLst xmlns:a="http://schemas.openxmlformats.org/drawingml/2006/main">
              <a:ext uri="{FF2B5EF4-FFF2-40B4-BE49-F238E27FC236}">
                <a16:creationId xmlns:a16="http://schemas.microsoft.com/office/drawing/2014/main" id="{CBA8C19C-C7E2-47E1-AEE7-13FB2278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488632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Purple gradient</a:t>
            </a:r>
          </a:p>
        </p:txBody>
      </p:sp>
      <p:sp>
        <p:nvSpPr>
          <p:cNvPr id="17" name="logo-point-desc-3">
            <a:extLst xmlns:a="http://schemas.openxmlformats.org/drawingml/2006/main">
              <a:ext uri="{FF2B5EF4-FFF2-40B4-BE49-F238E27FC236}">
                <a16:creationId xmlns:a16="http://schemas.microsoft.com/office/drawing/2014/main" id="{F1FDA9DC-D7D3-4997-95B0-DD4B9617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9800" y="5153025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Technical confidence softened by warmth.</a:t>
            </a:r>
          </a:p>
        </p:txBody>
      </p:sp>
      <p:sp>
        <p:nvSpPr>
          <p:cNvPr id="18" name="footer-3">
            <a:extLst xmlns:a="http://schemas.openxmlformats.org/drawingml/2006/main">
              <a:ext uri="{FF2B5EF4-FFF2-40B4-BE49-F238E27FC236}">
                <a16:creationId xmlns:a16="http://schemas.microsoft.com/office/drawing/2014/main" id="{FC94DA7A-0EFB-4664-A85B-E89595EE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19" name="page-3">
            <a:extLst xmlns:a="http://schemas.openxmlformats.org/drawingml/2006/main">
              <a:ext uri="{FF2B5EF4-FFF2-40B4-BE49-F238E27FC236}">
                <a16:creationId xmlns:a16="http://schemas.microsoft.com/office/drawing/2014/main" id="{5A8BA9B8-3535-4DD3-9BDB-0047C204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20916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-4">
            <a:extLst xmlns:a="http://schemas.openxmlformats.org/drawingml/2006/main">
              <a:ext uri="{FF2B5EF4-FFF2-40B4-BE49-F238E27FC236}">
                <a16:creationId xmlns:a16="http://schemas.microsoft.com/office/drawing/2014/main" id="{05014711-4393-410F-89B7-7644BC5B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LOGO SYSTEM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515E8E6-F7A2-489F-8C61-8ABA84D1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Use one name, three controlled expressions.</a:t>
            </a:r>
          </a:p>
        </p:txBody>
      </p:sp>
      <p:sp>
        <p:nvSpPr>
          <p:cNvPr id="3" name="primary-label">
            <a:extLst xmlns:a="http://schemas.openxmlformats.org/drawingml/2006/main">
              <a:ext uri="{FF2B5EF4-FFF2-40B4-BE49-F238E27FC236}">
                <a16:creationId xmlns:a16="http://schemas.microsoft.com/office/drawing/2014/main" id="{C7EDB758-D17B-4309-AA54-132610D5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764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PRIMARY / HORIZONTAL LOCKUP</a:t>
            </a:r>
          </a:p>
        </p:txBody>
      </p:sp>
      <p:sp>
        <p:nvSpPr>
          <p:cNvPr id="4" name="lockup-stage">
            <a:extLst xmlns:a="http://schemas.openxmlformats.org/drawingml/2006/main">
              <a:ext uri="{FF2B5EF4-FFF2-40B4-BE49-F238E27FC236}">
                <a16:creationId xmlns:a16="http://schemas.microsoft.com/office/drawing/2014/main" id="{5D3BC735-4E5A-4235-9F97-8B3E4E0D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000250"/>
            <a:ext cx="672465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27a1dad27a455b"/>
          <a:stretch xmlns:a="http://schemas.openxmlformats.org/drawingml/2006/main"/>
        </p:blipFill>
        <p:spPr>
          <a:xfrm xmlns:a="http://schemas.openxmlformats.org/drawingml/2006/main">
            <a:off x="1943407" y="2228850"/>
            <a:ext cx="4028460" cy="1238250"/>
          </a:xfrm>
          <a:prstGeom xmlns:a="http://schemas.openxmlformats.org/drawingml/2006/main" prst="rect">
            <a:avLst/>
          </a:prstGeom>
        </p:spPr>
      </p:pic>
      <p:sp>
        <p:nvSpPr>
          <p:cNvPr id="6" name="compact-label">
            <a:extLst xmlns:a="http://schemas.openxmlformats.org/drawingml/2006/main">
              <a:ext uri="{FF2B5EF4-FFF2-40B4-BE49-F238E27FC236}">
                <a16:creationId xmlns:a16="http://schemas.microsoft.com/office/drawing/2014/main" id="{2FDD6089-0089-407B-8CB8-A33A61CE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6764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COMPACT / PRODUCT ICON</a:t>
            </a:r>
          </a:p>
        </p:txBody>
      </p:sp>
      <p:sp>
        <p:nvSpPr>
          <p:cNvPr id="7" name="icon-stage">
            <a:extLst xmlns:a="http://schemas.openxmlformats.org/drawingml/2006/main">
              <a:ext uri="{FF2B5EF4-FFF2-40B4-BE49-F238E27FC236}">
                <a16:creationId xmlns:a16="http://schemas.microsoft.com/office/drawing/2014/main" id="{886071F8-7F07-486A-89D3-40D5D3E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2000250"/>
            <a:ext cx="3276600" cy="17145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e8e5cc9f89430d">
            <a:extLst>
              <a:ext uri="{96DAC541-7B7A-43D3-8B79-37D633B846F1}">
                <asvg:svgBlip xmlns:asvg="http://schemas.microsoft.com/office/drawing/2016/SVG/main" r:embed="Rf97393863b5e49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77300" y="2324100"/>
            <a:ext cx="1428750" cy="1066800"/>
          </a:xfrm>
          <a:prstGeom xmlns:a="http://schemas.openxmlformats.org/drawingml/2006/main" prst="rect">
            <a:avLst/>
          </a:prstGeom>
        </p:spPr>
      </p:pic>
      <p:sp>
        <p:nvSpPr>
          <p:cNvPr id="9" name="wordmark-label">
            <a:extLst xmlns:a="http://schemas.openxmlformats.org/drawingml/2006/main">
              <a:ext uri="{FF2B5EF4-FFF2-40B4-BE49-F238E27FC236}">
                <a16:creationId xmlns:a16="http://schemas.microsoft.com/office/drawing/2014/main" id="{E27758B7-6434-478A-AB57-88B077A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7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WORDMARK TREATMENT</a:t>
            </a:r>
          </a:p>
        </p:txBody>
      </p:sp>
      <p:sp>
        <p:nvSpPr>
          <p:cNvPr id="10" name="wordmark-sample">
            <a:extLst xmlns:a="http://schemas.openxmlformats.org/drawingml/2006/main">
              <a:ext uri="{FF2B5EF4-FFF2-40B4-BE49-F238E27FC236}">
                <a16:creationId xmlns:a16="http://schemas.microsoft.com/office/drawing/2014/main" id="{80C06979-3AD5-4980-8656-5DD18552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4767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54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5400" b="1">
                <a:gradFill>
                  <a:gsLst>
                    <a:gs pos="0">
                      <a:srgbClr val="3A2D64"/>
                    </a:gs>
                    <a:gs pos="100000">
                      <a:srgbClr val="CE84B7"/>
                    </a:gs>
                  </a:gsLst>
                  <a:lin ang="0"/>
                </a:gradFill>
                <a:latin typeface="Avenir Next"/>
                <a:ea typeface="Avenir Next"/>
                <a:cs typeface="Avenir Next"/>
              </a:rPr>
              <a:t>JusPrin</a:t>
            </a:r>
          </a:p>
        </p:txBody>
      </p:sp>
      <p:sp>
        <p:nvSpPr>
          <p:cNvPr id="11" name="wordmark-rules">
            <a:extLst xmlns:a="http://schemas.openxmlformats.org/drawingml/2006/main">
              <a:ext uri="{FF2B5EF4-FFF2-40B4-BE49-F238E27FC236}">
                <a16:creationId xmlns:a16="http://schemas.microsoft.com/office/drawing/2014/main" id="{DA4F63F9-6904-4DB4-A29E-76A13796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36245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Avenir Next Heavy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Capital J + capital P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No space, no all-caps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Tight optical tracking (-1% to -2%)</a:t>
            </a:r>
          </a:p>
        </p:txBody>
      </p:sp>
      <p:sp>
        <p:nvSpPr>
          <p:cNvPr id="12" name="plain-text-rule">
            <a:extLst xmlns:a="http://schemas.openxmlformats.org/drawingml/2006/main">
              <a:ext uri="{FF2B5EF4-FFF2-40B4-BE49-F238E27FC236}">
                <a16:creationId xmlns:a16="http://schemas.microsoft.com/office/drawing/2014/main" id="{E9023C6C-A4C6-4691-81B3-96B5158E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7340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In body copy, write JusPrin in the surrounding text color - never force the gradient at small sizes.</a:t>
            </a:r>
          </a:p>
        </p:txBody>
      </p:sp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1D04C175-655B-4460-9891-CDB09BBF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14" name="page-4">
            <a:extLst xmlns:a="http://schemas.openxmlformats.org/drawingml/2006/main">
              <a:ext uri="{FF2B5EF4-FFF2-40B4-BE49-F238E27FC236}">
                <a16:creationId xmlns:a16="http://schemas.microsoft.com/office/drawing/2014/main" id="{EF933015-5024-4962-A3B1-676904D43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85835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yebrow-5">
            <a:extLst xmlns:a="http://schemas.openxmlformats.org/drawingml/2006/main">
              <a:ext uri="{FF2B5EF4-FFF2-40B4-BE49-F238E27FC236}">
                <a16:creationId xmlns:a16="http://schemas.microsoft.com/office/drawing/2014/main" id="{914D1A18-458A-4F19-A94B-E2B487DB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COLOR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1D99F6E-4D97-4B28-8BA4-0A5CC9B1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A narrow purple spectrum carries the identity.</a:t>
            </a:r>
          </a:p>
        </p:txBody>
      </p:sp>
      <p:sp>
        <p:nvSpPr>
          <p:cNvPr id="3" name="swatch-Orbit">
            <a:extLst xmlns:a="http://schemas.openxmlformats.org/drawingml/2006/main">
              <a:ext uri="{FF2B5EF4-FFF2-40B4-BE49-F238E27FC236}">
                <a16:creationId xmlns:a16="http://schemas.microsoft.com/office/drawing/2014/main" id="{86E45340-F6DC-4914-951E-322CEA7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733550"/>
            <a:ext cx="24955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watch-name-Orbit">
            <a:extLst xmlns:a="http://schemas.openxmlformats.org/drawingml/2006/main">
              <a:ext uri="{FF2B5EF4-FFF2-40B4-BE49-F238E27FC236}">
                <a16:creationId xmlns:a16="http://schemas.microsoft.com/office/drawing/2014/main" id="{6ABA1CFB-5D34-43BE-955D-083DE268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9050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Orbit</a:t>
            </a:r>
          </a:p>
        </p:txBody>
      </p:sp>
      <p:sp>
        <p:nvSpPr>
          <p:cNvPr id="5" name="swatch-hex-Orbit">
            <a:extLst xmlns:a="http://schemas.openxmlformats.org/drawingml/2006/main">
              <a:ext uri="{FF2B5EF4-FFF2-40B4-BE49-F238E27FC236}">
                <a16:creationId xmlns:a16="http://schemas.microsoft.com/office/drawing/2014/main" id="{45654BFB-3015-4461-B121-14E2222A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22479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#3A2D64</a:t>
            </a:r>
          </a:p>
        </p:txBody>
      </p:sp>
      <p:sp>
        <p:nvSpPr>
          <p:cNvPr id="6" name="swatch-use-Orbit">
            <a:extLst xmlns:a="http://schemas.openxmlformats.org/drawingml/2006/main">
              <a:ext uri="{FF2B5EF4-FFF2-40B4-BE49-F238E27FC236}">
                <a16:creationId xmlns:a16="http://schemas.microsoft.com/office/drawing/2014/main" id="{8D2B97E2-BC12-41CD-A543-C11038E0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0480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Primary / accessible on white</a:t>
            </a:r>
          </a:p>
        </p:txBody>
      </p:sp>
      <p:sp>
        <p:nvSpPr>
          <p:cNvPr id="7" name="swatch-Violet">
            <a:extLst xmlns:a="http://schemas.openxmlformats.org/drawingml/2006/main">
              <a:ext uri="{FF2B5EF4-FFF2-40B4-BE49-F238E27FC236}">
                <a16:creationId xmlns:a16="http://schemas.microsoft.com/office/drawing/2014/main" id="{93DD7DE8-2FF3-4E48-B87C-4A42D70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733550"/>
            <a:ext cx="24955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watch-name-Violet">
            <a:extLst xmlns:a="http://schemas.openxmlformats.org/drawingml/2006/main">
              <a:ext uri="{FF2B5EF4-FFF2-40B4-BE49-F238E27FC236}">
                <a16:creationId xmlns:a16="http://schemas.microsoft.com/office/drawing/2014/main" id="{1FA99B85-8310-418A-87C4-794037ED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19050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Violet</a:t>
            </a:r>
          </a:p>
        </p:txBody>
      </p:sp>
      <p:sp>
        <p:nvSpPr>
          <p:cNvPr id="9" name="swatch-hex-Violet">
            <a:extLst xmlns:a="http://schemas.openxmlformats.org/drawingml/2006/main">
              <a:ext uri="{FF2B5EF4-FFF2-40B4-BE49-F238E27FC236}">
                <a16:creationId xmlns:a16="http://schemas.microsoft.com/office/drawing/2014/main" id="{D74C59CB-5B67-4C54-9864-6F1A8F52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22479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#6F4F84</a:t>
            </a:r>
          </a:p>
        </p:txBody>
      </p:sp>
      <p:sp>
        <p:nvSpPr>
          <p:cNvPr id="10" name="swatch-use-Violet">
            <a:extLst xmlns:a="http://schemas.openxmlformats.org/drawingml/2006/main">
              <a:ext uri="{FF2B5EF4-FFF2-40B4-BE49-F238E27FC236}">
                <a16:creationId xmlns:a16="http://schemas.microsoft.com/office/drawing/2014/main" id="{72B1BD86-4F68-4E25-B1C1-09693CF1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30480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UI actions / headings</a:t>
            </a:r>
          </a:p>
        </p:txBody>
      </p:sp>
      <p:sp>
        <p:nvSpPr>
          <p:cNvPr id="11" name="swatch-Bloom">
            <a:extLst xmlns:a="http://schemas.openxmlformats.org/drawingml/2006/main">
              <a:ext uri="{FF2B5EF4-FFF2-40B4-BE49-F238E27FC236}">
                <a16:creationId xmlns:a16="http://schemas.microsoft.com/office/drawing/2014/main" id="{95618031-A73D-4DA3-901F-0D80A59E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1733550"/>
            <a:ext cx="24955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watch-name-Bloom">
            <a:extLst xmlns:a="http://schemas.openxmlformats.org/drawingml/2006/main">
              <a:ext uri="{FF2B5EF4-FFF2-40B4-BE49-F238E27FC236}">
                <a16:creationId xmlns:a16="http://schemas.microsoft.com/office/drawing/2014/main" id="{B3567315-0D47-42B2-B37F-20BE8105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19050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Bloom</a:t>
            </a:r>
          </a:p>
        </p:txBody>
      </p:sp>
      <p:sp>
        <p:nvSpPr>
          <p:cNvPr id="13" name="swatch-hex-Bloom">
            <a:extLst xmlns:a="http://schemas.openxmlformats.org/drawingml/2006/main">
              <a:ext uri="{FF2B5EF4-FFF2-40B4-BE49-F238E27FC236}">
                <a16:creationId xmlns:a16="http://schemas.microsoft.com/office/drawing/2014/main" id="{CEC3620C-5631-421F-86B2-4C47682A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22479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7131F"/>
                </a:solidFill>
                <a:latin typeface="Menlo"/>
                <a:ea typeface="Menlo"/>
                <a:cs typeface="Menlo"/>
              </a:rPr>
              <a:t>#CE84B7</a:t>
            </a:r>
          </a:p>
        </p:txBody>
      </p:sp>
      <p:sp>
        <p:nvSpPr>
          <p:cNvPr id="14" name="swatch-use-Bloom">
            <a:extLst xmlns:a="http://schemas.openxmlformats.org/drawingml/2006/main">
              <a:ext uri="{FF2B5EF4-FFF2-40B4-BE49-F238E27FC236}">
                <a16:creationId xmlns:a16="http://schemas.microsoft.com/office/drawing/2014/main" id="{A680D45A-D5D1-4159-BD7A-492A64BC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30480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Expressive accent only</a:t>
            </a:r>
          </a:p>
        </p:txBody>
      </p:sp>
      <p:sp>
        <p:nvSpPr>
          <p:cNvPr id="15" name="swatch-Ink">
            <a:extLst xmlns:a="http://schemas.openxmlformats.org/drawingml/2006/main">
              <a:ext uri="{FF2B5EF4-FFF2-40B4-BE49-F238E27FC236}">
                <a16:creationId xmlns:a16="http://schemas.microsoft.com/office/drawing/2014/main" id="{D936E93B-3BE3-40E4-B616-55D17EA14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1733550"/>
            <a:ext cx="2495550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watch-name-Ink">
            <a:extLst xmlns:a="http://schemas.openxmlformats.org/drawingml/2006/main">
              <a:ext uri="{FF2B5EF4-FFF2-40B4-BE49-F238E27FC236}">
                <a16:creationId xmlns:a16="http://schemas.microsoft.com/office/drawing/2014/main" id="{C10BE6A6-101F-4406-ADE1-08C35D3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19050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Ink</a:t>
            </a:r>
          </a:p>
        </p:txBody>
      </p:sp>
      <p:sp>
        <p:nvSpPr>
          <p:cNvPr id="17" name="swatch-hex-Ink">
            <a:extLst xmlns:a="http://schemas.openxmlformats.org/drawingml/2006/main">
              <a:ext uri="{FF2B5EF4-FFF2-40B4-BE49-F238E27FC236}">
                <a16:creationId xmlns:a16="http://schemas.microsoft.com/office/drawing/2014/main" id="{669AE341-624B-438E-ADDC-16828DE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224790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#17131F</a:t>
            </a:r>
          </a:p>
        </p:txBody>
      </p:sp>
      <p:sp>
        <p:nvSpPr>
          <p:cNvPr id="18" name="swatch-use-Ink">
            <a:extLst xmlns:a="http://schemas.openxmlformats.org/drawingml/2006/main">
              <a:ext uri="{FF2B5EF4-FFF2-40B4-BE49-F238E27FC236}">
                <a16:creationId xmlns:a16="http://schemas.microsoft.com/office/drawing/2014/main" id="{12422C27-4519-42E9-94D3-EAEA63F2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304800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Text / dark surfaces</a:t>
            </a:r>
          </a:p>
        </p:txBody>
      </p:sp>
      <p:sp>
        <p:nvSpPr>
          <p:cNvPr id="19" name="swatch-White">
            <a:extLst xmlns:a="http://schemas.openxmlformats.org/drawingml/2006/main">
              <a:ext uri="{FF2B5EF4-FFF2-40B4-BE49-F238E27FC236}">
                <a16:creationId xmlns:a16="http://schemas.microsoft.com/office/drawing/2014/main" id="{FDAFA84B-1422-47B3-93A1-E001EBBB1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848100"/>
            <a:ext cx="24955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watch-name-White">
            <a:extLst xmlns:a="http://schemas.openxmlformats.org/drawingml/2006/main">
              <a:ext uri="{FF2B5EF4-FFF2-40B4-BE49-F238E27FC236}">
                <a16:creationId xmlns:a16="http://schemas.microsoft.com/office/drawing/2014/main" id="{F36D13E7-DEED-4334-918D-5F347481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019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White</a:t>
            </a:r>
          </a:p>
        </p:txBody>
      </p:sp>
      <p:sp>
        <p:nvSpPr>
          <p:cNvPr id="21" name="swatch-hex-White">
            <a:extLst xmlns:a="http://schemas.openxmlformats.org/drawingml/2006/main">
              <a:ext uri="{FF2B5EF4-FFF2-40B4-BE49-F238E27FC236}">
                <a16:creationId xmlns:a16="http://schemas.microsoft.com/office/drawing/2014/main" id="{4A7EA485-BF78-491A-8164-B1AB133C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3624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7131F"/>
                </a:solidFill>
                <a:latin typeface="Menlo"/>
                <a:ea typeface="Menlo"/>
                <a:cs typeface="Menlo"/>
              </a:rPr>
              <a:t>#FFFFFF</a:t>
            </a:r>
          </a:p>
        </p:txBody>
      </p:sp>
      <p:sp>
        <p:nvSpPr>
          <p:cNvPr id="22" name="swatch-use-White">
            <a:extLst xmlns:a="http://schemas.openxmlformats.org/drawingml/2006/main">
              <a:ext uri="{FF2B5EF4-FFF2-40B4-BE49-F238E27FC236}">
                <a16:creationId xmlns:a16="http://schemas.microsoft.com/office/drawing/2014/main" id="{078A2FED-2071-42F4-9C90-26768DB2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4895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Primary canvas</a:t>
            </a:r>
          </a:p>
        </p:txBody>
      </p:sp>
      <p:sp>
        <p:nvSpPr>
          <p:cNvPr id="23" name="swatch-Mist">
            <a:extLst xmlns:a="http://schemas.openxmlformats.org/drawingml/2006/main">
              <a:ext uri="{FF2B5EF4-FFF2-40B4-BE49-F238E27FC236}">
                <a16:creationId xmlns:a16="http://schemas.microsoft.com/office/drawing/2014/main" id="{11903F1A-AE25-4A9B-8BCF-1BDE2314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848100"/>
            <a:ext cx="24955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watch-name-Mist">
            <a:extLst xmlns:a="http://schemas.openxmlformats.org/drawingml/2006/main">
              <a:ext uri="{FF2B5EF4-FFF2-40B4-BE49-F238E27FC236}">
                <a16:creationId xmlns:a16="http://schemas.microsoft.com/office/drawing/2014/main" id="{51F00E8A-8143-48C0-B520-3154762C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4019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Mist</a:t>
            </a:r>
          </a:p>
        </p:txBody>
      </p:sp>
      <p:sp>
        <p:nvSpPr>
          <p:cNvPr id="25" name="swatch-hex-Mist">
            <a:extLst xmlns:a="http://schemas.openxmlformats.org/drawingml/2006/main">
              <a:ext uri="{FF2B5EF4-FFF2-40B4-BE49-F238E27FC236}">
                <a16:creationId xmlns:a16="http://schemas.microsoft.com/office/drawing/2014/main" id="{3B93A02D-B135-4C23-9E5C-AD7A53DA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43624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7131F"/>
                </a:solidFill>
                <a:latin typeface="Menlo"/>
                <a:ea typeface="Menlo"/>
                <a:cs typeface="Menlo"/>
              </a:rPr>
              <a:t>#F6F2F7</a:t>
            </a:r>
          </a:p>
        </p:txBody>
      </p:sp>
      <p:sp>
        <p:nvSpPr>
          <p:cNvPr id="26" name="swatch-use-Mist">
            <a:extLst xmlns:a="http://schemas.openxmlformats.org/drawingml/2006/main">
              <a:ext uri="{FF2B5EF4-FFF2-40B4-BE49-F238E27FC236}">
                <a16:creationId xmlns:a16="http://schemas.microsoft.com/office/drawing/2014/main" id="{E31519BE-4820-45A4-92C2-5FD4851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4895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Soft canvas / panels</a:t>
            </a:r>
          </a:p>
        </p:txBody>
      </p:sp>
      <p:sp>
        <p:nvSpPr>
          <p:cNvPr id="27" name="swatch-Trace">
            <a:extLst xmlns:a="http://schemas.openxmlformats.org/drawingml/2006/main">
              <a:ext uri="{FF2B5EF4-FFF2-40B4-BE49-F238E27FC236}">
                <a16:creationId xmlns:a16="http://schemas.microsoft.com/office/drawing/2014/main" id="{94BDD869-9DAA-497A-8B17-1172FD72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3848100"/>
            <a:ext cx="24955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watch-name-Trace">
            <a:extLst xmlns:a="http://schemas.openxmlformats.org/drawingml/2006/main">
              <a:ext uri="{FF2B5EF4-FFF2-40B4-BE49-F238E27FC236}">
                <a16:creationId xmlns:a16="http://schemas.microsoft.com/office/drawing/2014/main" id="{286B48AC-9634-468E-9BAB-FDAF471A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40195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Trace</a:t>
            </a:r>
          </a:p>
        </p:txBody>
      </p:sp>
      <p:sp>
        <p:nvSpPr>
          <p:cNvPr id="29" name="swatch-hex-Trace">
            <a:extLst xmlns:a="http://schemas.openxmlformats.org/drawingml/2006/main">
              <a:ext uri="{FF2B5EF4-FFF2-40B4-BE49-F238E27FC236}">
                <a16:creationId xmlns:a16="http://schemas.microsoft.com/office/drawing/2014/main" id="{760FFF16-D32D-450E-A1D0-2C9E280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4362450"/>
            <a:ext cx="2152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17131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17131F"/>
                </a:solidFill>
                <a:latin typeface="Menlo"/>
                <a:ea typeface="Menlo"/>
                <a:cs typeface="Menlo"/>
              </a:rPr>
              <a:t>#E8DFEB</a:t>
            </a:r>
          </a:p>
        </p:txBody>
      </p:sp>
      <p:sp>
        <p:nvSpPr>
          <p:cNvPr id="30" name="swatch-use-Trace">
            <a:extLst xmlns:a="http://schemas.openxmlformats.org/drawingml/2006/main">
              <a:ext uri="{FF2B5EF4-FFF2-40B4-BE49-F238E27FC236}">
                <a16:creationId xmlns:a16="http://schemas.microsoft.com/office/drawing/2014/main" id="{43BD73B7-3ED1-44DE-8819-DF1994A8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29350" y="48958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Dividers / hover fills</a:t>
            </a:r>
          </a:p>
        </p:txBody>
      </p:sp>
      <p:sp>
        <p:nvSpPr>
          <p:cNvPr id="31" name="gradient-card">
            <a:extLst xmlns:a="http://schemas.openxmlformats.org/drawingml/2006/main">
              <a:ext uri="{FF2B5EF4-FFF2-40B4-BE49-F238E27FC236}">
                <a16:creationId xmlns:a16="http://schemas.microsoft.com/office/drawing/2014/main" id="{C9E141F4-476C-4B6E-A7DB-65480030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3848100"/>
            <a:ext cx="2495550" cy="1524000"/>
          </a:xfrm>
          <a:prstGeom xmlns:a="http://schemas.openxmlformats.org/drawingml/2006/main" prst="roundRect">
            <a:avLst>
              <a:gd name="adj" fmla="val 11250"/>
            </a:avLst>
          </a:prstGeom>
          <a:gradFill xmlns:a="http://schemas.openxmlformats.org/drawingml/2006/main">
            <a:gsLst>
              <a:gs pos="0">
                <a:srgbClr val="3A2D64"/>
              </a:gs>
              <a:gs pos="100000">
                <a:srgbClr val="CE84B7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2" name="gradient-title">
            <a:extLst xmlns:a="http://schemas.openxmlformats.org/drawingml/2006/main">
              <a:ext uri="{FF2B5EF4-FFF2-40B4-BE49-F238E27FC236}">
                <a16:creationId xmlns:a16="http://schemas.microsoft.com/office/drawing/2014/main" id="{87F5402B-3F00-4464-9EEF-979714FE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019550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Signature gradient</a:t>
            </a:r>
          </a:p>
        </p:txBody>
      </p:sp>
      <p:sp>
        <p:nvSpPr>
          <p:cNvPr id="33" name="gradient-code">
            <a:extLst xmlns:a="http://schemas.openxmlformats.org/drawingml/2006/main">
              <a:ext uri="{FF2B5EF4-FFF2-40B4-BE49-F238E27FC236}">
                <a16:creationId xmlns:a16="http://schemas.microsoft.com/office/drawing/2014/main" id="{B76AA991-5873-4659-8F3D-44554CFA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381500"/>
            <a:ext cx="2143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#3A2D64 -&gt; #CE84B7</a:t>
            </a:r>
          </a:p>
        </p:txBody>
      </p:sp>
      <p:sp>
        <p:nvSpPr>
          <p:cNvPr id="34" name="gradient-use">
            <a:extLst xmlns:a="http://schemas.openxmlformats.org/drawingml/2006/main">
              <a:ext uri="{FF2B5EF4-FFF2-40B4-BE49-F238E27FC236}">
                <a16:creationId xmlns:a16="http://schemas.microsoft.com/office/drawing/2014/main" id="{84EA78CA-994B-4B47-BFEC-47D5E2B8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0" y="4953000"/>
            <a:ext cx="214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Logo and rare hero moments</a:t>
            </a:r>
          </a:p>
        </p:txBody>
      </p:sp>
      <p:sp>
        <p:nvSpPr>
          <p:cNvPr id="35" name="contrast-note">
            <a:extLst xmlns:a="http://schemas.openxmlformats.org/drawingml/2006/main">
              <a:ext uri="{FF2B5EF4-FFF2-40B4-BE49-F238E27FC236}">
                <a16:creationId xmlns:a16="http://schemas.microsoft.com/office/drawing/2014/main" id="{AFE90CAF-409C-47ED-99C3-E63700D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7531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Accessibility: Orbit and Violet pass AA for normal text on white; Bloom is reserved for large type, graphics, and accents.</a:t>
            </a:r>
          </a:p>
        </p:txBody>
      </p:sp>
      <p:sp>
        <p:nvSpPr>
          <p:cNvPr id="36" name="footer-5">
            <a:extLst xmlns:a="http://schemas.openxmlformats.org/drawingml/2006/main">
              <a:ext uri="{FF2B5EF4-FFF2-40B4-BE49-F238E27FC236}">
                <a16:creationId xmlns:a16="http://schemas.microsoft.com/office/drawing/2014/main" id="{C3C89AAD-A172-46F6-AB92-55E4F182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37" name="page-5">
            <a:extLst xmlns:a="http://schemas.openxmlformats.org/drawingml/2006/main">
              <a:ext uri="{FF2B5EF4-FFF2-40B4-BE49-F238E27FC236}">
                <a16:creationId xmlns:a16="http://schemas.microsoft.com/office/drawing/2014/main" id="{92006038-774A-42A1-A9F2-BBF7EF9E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22447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-6">
            <a:extLst xmlns:a="http://schemas.openxmlformats.org/drawingml/2006/main">
              <a:ext uri="{FF2B5EF4-FFF2-40B4-BE49-F238E27FC236}">
                <a16:creationId xmlns:a16="http://schemas.microsoft.com/office/drawing/2014/main" id="{87992B9B-3A67-4D2C-9408-447DE1BC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TYPOGRAPHY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D5A9A36-00B4-493F-A18D-87C7BE11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Modern geometry. Clear hierarchy.</a:t>
            </a:r>
          </a:p>
        </p:txBody>
      </p:sp>
      <p:sp>
        <p:nvSpPr>
          <p:cNvPr id="3" name="type-primary">
            <a:extLst xmlns:a="http://schemas.openxmlformats.org/drawingml/2006/main">
              <a:ext uri="{FF2B5EF4-FFF2-40B4-BE49-F238E27FC236}">
                <a16:creationId xmlns:a16="http://schemas.microsoft.com/office/drawing/2014/main" id="{F210AB6A-58AB-4C72-A609-38173A1D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57350"/>
            <a:ext cx="523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800" b="1">
                <a:solidFill>
                  <a:srgbClr val="3A2D64"/>
                </a:solidFill>
                <a:latin typeface="Avenir Next"/>
                <a:ea typeface="Avenir Next"/>
                <a:cs typeface="Avenir Next"/>
              </a:defRPr>
            </a:pPr>
            <a:r>
              <a:rPr sz="4800" b="1">
                <a:solidFill>
                  <a:srgbClr val="3A2D64"/>
                </a:solidFill>
                <a:latin typeface="Avenir Next"/>
                <a:ea typeface="Avenir Next"/>
                <a:cs typeface="Avenir Next"/>
              </a:rPr>
              <a:t>Avenir Next</a:t>
            </a:r>
          </a:p>
        </p:txBody>
      </p:sp>
      <p:sp>
        <p:nvSpPr>
          <p:cNvPr id="4" name="type-primary-desc">
            <a:extLst xmlns:a="http://schemas.openxmlformats.org/drawingml/2006/main">
              <a:ext uri="{FF2B5EF4-FFF2-40B4-BE49-F238E27FC236}">
                <a16:creationId xmlns:a16="http://schemas.microsoft.com/office/drawing/2014/main" id="{1B207384-ADF7-431F-9157-6759B831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476500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Primary family / display, product UI, and marketing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Heavy for headlines · Demi Bold for actions · Regular for body</a:t>
            </a:r>
          </a:p>
        </p:txBody>
      </p:sp>
      <p:sp>
        <p:nvSpPr>
          <p:cNvPr id="5" name="mono-sample">
            <a:extLst xmlns:a="http://schemas.openxmlformats.org/drawingml/2006/main">
              <a:ext uri="{FF2B5EF4-FFF2-40B4-BE49-F238E27FC236}">
                <a16:creationId xmlns:a16="http://schemas.microsoft.com/office/drawing/2014/main" id="{8E7C1996-165F-433E-95CD-4B1D93E5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18097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800" b="0">
                <a:solidFill>
                  <a:srgbClr val="6F4F84"/>
                </a:solidFill>
                <a:latin typeface="Menlo"/>
                <a:ea typeface="Menlo"/>
                <a:cs typeface="Menlo"/>
              </a:rPr>
              <a:t>Menlo  0.20 mm  215 C</a:t>
            </a:r>
          </a:p>
        </p:txBody>
      </p:sp>
      <p:sp>
        <p:nvSpPr>
          <p:cNvPr id="6" name="mono-desc">
            <a:extLst xmlns:a="http://schemas.openxmlformats.org/drawingml/2006/main">
              <a:ext uri="{FF2B5EF4-FFF2-40B4-BE49-F238E27FC236}">
                <a16:creationId xmlns:a16="http://schemas.microsoft.com/office/drawing/2014/main" id="{7A903B73-16AE-478A-9137-94D41080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23812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Technical companion / measurements, temperatures, filenames, and machine status. Use sparingly.</a:t>
            </a:r>
          </a:p>
        </p:txBody>
      </p:sp>
      <p:sp>
        <p:nvSpPr>
          <p:cNvPr id="7" name="type-rule">
            <a:extLst xmlns:a="http://schemas.openxmlformats.org/drawingml/2006/main">
              <a:ext uri="{FF2B5EF4-FFF2-40B4-BE49-F238E27FC236}">
                <a16:creationId xmlns:a16="http://schemas.microsoft.com/office/drawing/2014/main" id="{3E83ED2E-C183-42DE-9C4D-8C1E1A4A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42900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pec-name-0">
            <a:extLst xmlns:a="http://schemas.openxmlformats.org/drawingml/2006/main">
              <a:ext uri="{FF2B5EF4-FFF2-40B4-BE49-F238E27FC236}">
                <a16:creationId xmlns:a16="http://schemas.microsoft.com/office/drawing/2014/main" id="{8D7D85F0-D319-4D19-B4DB-D7A0FB0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95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Display</a:t>
            </a:r>
          </a:p>
        </p:txBody>
      </p:sp>
      <p:sp>
        <p:nvSpPr>
          <p:cNvPr id="9" name="spec-size-0">
            <a:extLst xmlns:a="http://schemas.openxmlformats.org/drawingml/2006/main">
              <a:ext uri="{FF2B5EF4-FFF2-40B4-BE49-F238E27FC236}">
                <a16:creationId xmlns:a16="http://schemas.microsoft.com/office/drawing/2014/main" id="{705C7135-0198-4E0D-AD87-99EB9590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695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F4F84"/>
                </a:solidFill>
                <a:latin typeface="Menlo"/>
                <a:ea typeface="Menlo"/>
                <a:cs typeface="Menlo"/>
              </a:rPr>
              <a:t>48 / 52</a:t>
            </a:r>
          </a:p>
        </p:txBody>
      </p:sp>
      <p:sp>
        <p:nvSpPr>
          <p:cNvPr id="10" name="spec-weight-0">
            <a:extLst xmlns:a="http://schemas.openxmlformats.org/drawingml/2006/main">
              <a:ext uri="{FF2B5EF4-FFF2-40B4-BE49-F238E27FC236}">
                <a16:creationId xmlns:a16="http://schemas.microsoft.com/office/drawing/2014/main" id="{8186A5BE-98B2-4B10-9009-EA810182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3695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Heavy</a:t>
            </a:r>
          </a:p>
        </p:txBody>
      </p:sp>
      <p:sp>
        <p:nvSpPr>
          <p:cNvPr id="11" name="spec-copy-0">
            <a:extLst xmlns:a="http://schemas.openxmlformats.org/drawingml/2006/main">
              <a:ext uri="{FF2B5EF4-FFF2-40B4-BE49-F238E27FC236}">
                <a16:creationId xmlns:a16="http://schemas.microsoft.com/office/drawing/2014/main" id="{078B72C0-FFB9-41B4-9EFF-5B84B088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6671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From model to making.</a:t>
            </a:r>
          </a:p>
        </p:txBody>
      </p:sp>
      <p:sp>
        <p:nvSpPr>
          <p:cNvPr id="12" name="spec-name-1">
            <a:extLst xmlns:a="http://schemas.openxmlformats.org/drawingml/2006/main">
              <a:ext uri="{FF2B5EF4-FFF2-40B4-BE49-F238E27FC236}">
                <a16:creationId xmlns:a16="http://schemas.microsoft.com/office/drawing/2014/main" id="{BB1BF98A-83F9-4EC8-A2EF-CCBB8C82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1719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Heading 1</a:t>
            </a:r>
          </a:p>
        </p:txBody>
      </p:sp>
      <p:sp>
        <p:nvSpPr>
          <p:cNvPr id="13" name="spec-size-1">
            <a:extLst xmlns:a="http://schemas.openxmlformats.org/drawingml/2006/main">
              <a:ext uri="{FF2B5EF4-FFF2-40B4-BE49-F238E27FC236}">
                <a16:creationId xmlns:a16="http://schemas.microsoft.com/office/drawing/2014/main" id="{4A052533-60CD-4876-B535-BEDBE10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171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F4F84"/>
                </a:solidFill>
                <a:latin typeface="Menlo"/>
                <a:ea typeface="Menlo"/>
                <a:cs typeface="Menlo"/>
              </a:rPr>
              <a:t>36 / 42</a:t>
            </a:r>
          </a:p>
        </p:txBody>
      </p:sp>
      <p:sp>
        <p:nvSpPr>
          <p:cNvPr id="14" name="spec-weight-1">
            <a:extLst xmlns:a="http://schemas.openxmlformats.org/drawingml/2006/main">
              <a:ext uri="{FF2B5EF4-FFF2-40B4-BE49-F238E27FC236}">
                <a16:creationId xmlns:a16="http://schemas.microsoft.com/office/drawing/2014/main" id="{BCD8FCA4-0E7E-442A-8DFE-F85D2B02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4171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Demi Bold</a:t>
            </a:r>
          </a:p>
        </p:txBody>
      </p:sp>
      <p:sp>
        <p:nvSpPr>
          <p:cNvPr id="15" name="spec-copy-1">
            <a:extLst xmlns:a="http://schemas.openxmlformats.org/drawingml/2006/main">
              <a:ext uri="{FF2B5EF4-FFF2-40B4-BE49-F238E27FC236}">
                <a16:creationId xmlns:a16="http://schemas.microsoft.com/office/drawing/2014/main" id="{5436B621-09F8-4B1B-8CA2-C66EA479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41433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Prepare with confidence</a:t>
            </a:r>
          </a:p>
        </p:txBody>
      </p:sp>
      <p:sp>
        <p:nvSpPr>
          <p:cNvPr id="16" name="spec-name-2">
            <a:extLst xmlns:a="http://schemas.openxmlformats.org/drawingml/2006/main">
              <a:ext uri="{FF2B5EF4-FFF2-40B4-BE49-F238E27FC236}">
                <a16:creationId xmlns:a16="http://schemas.microsoft.com/office/drawing/2014/main" id="{FACB71E1-683A-452E-8F50-74CD1494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6482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Heading 2</a:t>
            </a:r>
          </a:p>
        </p:txBody>
      </p:sp>
      <p:sp>
        <p:nvSpPr>
          <p:cNvPr id="17" name="spec-size-2">
            <a:extLst xmlns:a="http://schemas.openxmlformats.org/drawingml/2006/main">
              <a:ext uri="{FF2B5EF4-FFF2-40B4-BE49-F238E27FC236}">
                <a16:creationId xmlns:a16="http://schemas.microsoft.com/office/drawing/2014/main" id="{24C13004-2E5E-414D-9F7A-6C9D49BE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6482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F4F84"/>
                </a:solidFill>
                <a:latin typeface="Menlo"/>
                <a:ea typeface="Menlo"/>
                <a:cs typeface="Menlo"/>
              </a:rPr>
              <a:t>24 / 30</a:t>
            </a:r>
          </a:p>
        </p:txBody>
      </p:sp>
      <p:sp>
        <p:nvSpPr>
          <p:cNvPr id="18" name="spec-weight-2">
            <a:extLst xmlns:a="http://schemas.openxmlformats.org/drawingml/2006/main">
              <a:ext uri="{FF2B5EF4-FFF2-40B4-BE49-F238E27FC236}">
                <a16:creationId xmlns:a16="http://schemas.microsoft.com/office/drawing/2014/main" id="{0781B23B-771A-44CB-BFC2-C903B1AF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4648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Demi Bold</a:t>
            </a:r>
          </a:p>
        </p:txBody>
      </p:sp>
      <p:sp>
        <p:nvSpPr>
          <p:cNvPr id="19" name="spec-copy-2">
            <a:extLst xmlns:a="http://schemas.openxmlformats.org/drawingml/2006/main">
              <a:ext uri="{FF2B5EF4-FFF2-40B4-BE49-F238E27FC236}">
                <a16:creationId xmlns:a16="http://schemas.microsoft.com/office/drawing/2014/main" id="{F933F208-1AE7-444C-8A88-F495DC75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46196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Print settings</a:t>
            </a:r>
          </a:p>
        </p:txBody>
      </p:sp>
      <p:sp>
        <p:nvSpPr>
          <p:cNvPr id="20" name="spec-name-3">
            <a:extLst xmlns:a="http://schemas.openxmlformats.org/drawingml/2006/main">
              <a:ext uri="{FF2B5EF4-FFF2-40B4-BE49-F238E27FC236}">
                <a16:creationId xmlns:a16="http://schemas.microsoft.com/office/drawing/2014/main" id="{6D2C07C4-C307-4D2D-B53B-D563DCA9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1244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Body</a:t>
            </a:r>
          </a:p>
        </p:txBody>
      </p:sp>
      <p:sp>
        <p:nvSpPr>
          <p:cNvPr id="21" name="spec-size-3">
            <a:extLst xmlns:a="http://schemas.openxmlformats.org/drawingml/2006/main">
              <a:ext uri="{FF2B5EF4-FFF2-40B4-BE49-F238E27FC236}">
                <a16:creationId xmlns:a16="http://schemas.microsoft.com/office/drawing/2014/main" id="{B67466AD-6438-4F4E-B192-0659243E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1244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F4F84"/>
                </a:solidFill>
                <a:latin typeface="Menlo"/>
                <a:ea typeface="Menlo"/>
                <a:cs typeface="Menlo"/>
              </a:rPr>
              <a:t>16 / 24</a:t>
            </a:r>
          </a:p>
        </p:txBody>
      </p:sp>
      <p:sp>
        <p:nvSpPr>
          <p:cNvPr id="22" name="spec-weight-3">
            <a:extLst xmlns:a="http://schemas.openxmlformats.org/drawingml/2006/main">
              <a:ext uri="{FF2B5EF4-FFF2-40B4-BE49-F238E27FC236}">
                <a16:creationId xmlns:a16="http://schemas.microsoft.com/office/drawing/2014/main" id="{2119782B-6D0E-4F7E-A0EE-658AC67B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5124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Regular</a:t>
            </a:r>
          </a:p>
        </p:txBody>
      </p:sp>
      <p:sp>
        <p:nvSpPr>
          <p:cNvPr id="23" name="spec-copy-3">
            <a:extLst xmlns:a="http://schemas.openxmlformats.org/drawingml/2006/main">
              <a:ext uri="{FF2B5EF4-FFF2-40B4-BE49-F238E27FC236}">
                <a16:creationId xmlns:a16="http://schemas.microsoft.com/office/drawing/2014/main" id="{98C6831B-5ED7-4CF2-9186-47CBCD9D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509587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Clear instructions keep the workflow moving.</a:t>
            </a:r>
          </a:p>
        </p:txBody>
      </p:sp>
      <p:sp>
        <p:nvSpPr>
          <p:cNvPr id="24" name="spec-name-4">
            <a:extLst xmlns:a="http://schemas.openxmlformats.org/drawingml/2006/main">
              <a:ext uri="{FF2B5EF4-FFF2-40B4-BE49-F238E27FC236}">
                <a16:creationId xmlns:a16="http://schemas.microsoft.com/office/drawing/2014/main" id="{0AE3FA82-0D81-42B1-B909-42B2290C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600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Label</a:t>
            </a:r>
          </a:p>
        </p:txBody>
      </p:sp>
      <p:sp>
        <p:nvSpPr>
          <p:cNvPr id="25" name="spec-size-4">
            <a:extLst xmlns:a="http://schemas.openxmlformats.org/drawingml/2006/main">
              <a:ext uri="{FF2B5EF4-FFF2-40B4-BE49-F238E27FC236}">
                <a16:creationId xmlns:a16="http://schemas.microsoft.com/office/drawing/2014/main" id="{D1D33A77-5799-4E11-935A-35A10F84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6007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6F4F84"/>
                </a:solidFill>
                <a:latin typeface="Menlo"/>
                <a:ea typeface="Menlo"/>
                <a:cs typeface="Menlo"/>
              </a:rPr>
              <a:t>13 / 18</a:t>
            </a:r>
          </a:p>
        </p:txBody>
      </p:sp>
      <p:sp>
        <p:nvSpPr>
          <p:cNvPr id="26" name="spec-weight-4">
            <a:extLst xmlns:a="http://schemas.openxmlformats.org/drawingml/2006/main">
              <a:ext uri="{FF2B5EF4-FFF2-40B4-BE49-F238E27FC236}">
                <a16:creationId xmlns:a16="http://schemas.microsoft.com/office/drawing/2014/main" id="{B9FBE9BC-6A11-4EE4-9C3E-B86E6566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5600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Demi Bold</a:t>
            </a:r>
          </a:p>
        </p:txBody>
      </p:sp>
      <p:sp>
        <p:nvSpPr>
          <p:cNvPr id="27" name="spec-copy-4">
            <a:extLst xmlns:a="http://schemas.openxmlformats.org/drawingml/2006/main">
              <a:ext uri="{FF2B5EF4-FFF2-40B4-BE49-F238E27FC236}">
                <a16:creationId xmlns:a16="http://schemas.microsoft.com/office/drawing/2014/main" id="{51F438AE-E6F8-4EAA-817F-9C1E67C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5572125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SLICE &amp; PRINT</a:t>
            </a:r>
          </a:p>
        </p:txBody>
      </p:sp>
      <p:sp>
        <p:nvSpPr>
          <p:cNvPr id="28" name="footer-6">
            <a:extLst xmlns:a="http://schemas.openxmlformats.org/drawingml/2006/main">
              <a:ext uri="{FF2B5EF4-FFF2-40B4-BE49-F238E27FC236}">
                <a16:creationId xmlns:a16="http://schemas.microsoft.com/office/drawing/2014/main" id="{16ECFF5E-822B-4D66-AF58-1AF7D409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29" name="page-6">
            <a:extLst xmlns:a="http://schemas.openxmlformats.org/drawingml/2006/main">
              <a:ext uri="{FF2B5EF4-FFF2-40B4-BE49-F238E27FC236}">
                <a16:creationId xmlns:a16="http://schemas.microsoft.com/office/drawing/2014/main" id="{DC97B357-51E6-4A95-89A8-CC2DEA73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3581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-7">
            <a:extLst xmlns:a="http://schemas.openxmlformats.org/drawingml/2006/main">
              <a:ext uri="{FF2B5EF4-FFF2-40B4-BE49-F238E27FC236}">
                <a16:creationId xmlns:a16="http://schemas.microsoft.com/office/drawing/2014/main" id="{1EC1498D-EE06-4726-A786-38368F1F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LOGO GEOMETRY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4529C2B1-4074-4535-8505-A5A91D32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Give the mark room to move.</a:t>
            </a:r>
          </a:p>
        </p:txBody>
      </p:sp>
      <p:sp>
        <p:nvSpPr>
          <p:cNvPr id="3" name="clear-space-label">
            <a:extLst xmlns:a="http://schemas.openxmlformats.org/drawingml/2006/main">
              <a:ext uri="{FF2B5EF4-FFF2-40B4-BE49-F238E27FC236}">
                <a16:creationId xmlns:a16="http://schemas.microsoft.com/office/drawing/2014/main" id="{424CDCC3-2BC7-4663-9411-F8B7EC51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00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CLEAR SPACE</a:t>
            </a:r>
          </a:p>
        </p:txBody>
      </p:sp>
      <p:sp>
        <p:nvSpPr>
          <p:cNvPr id="4" name="clear-outer">
            <a:extLst xmlns:a="http://schemas.openxmlformats.org/drawingml/2006/main">
              <a:ext uri="{FF2B5EF4-FFF2-40B4-BE49-F238E27FC236}">
                <a16:creationId xmlns:a16="http://schemas.microsoft.com/office/drawing/2014/main" id="{8E9BEDA6-0FE4-4787-B96B-065A048B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1981200"/>
            <a:ext cx="39052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84B7"/>
            </a:solidFill>
            <a:prstDash val="dash"/>
          </a:ln>
        </p:spPr>
      </p:sp>
      <p:sp>
        <p:nvSpPr>
          <p:cNvPr id="5" name="clear-inner">
            <a:extLst xmlns:a="http://schemas.openxmlformats.org/drawingml/2006/main">
              <a:ext uri="{FF2B5EF4-FFF2-40B4-BE49-F238E27FC236}">
                <a16:creationId xmlns:a16="http://schemas.microsoft.com/office/drawing/2014/main" id="{76873AE4-62A6-4832-BF6A-834F0C3B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2762250"/>
            <a:ext cx="2343150" cy="2343150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f35e9a3444c51"/>
          <a:stretch xmlns:a="http://schemas.openxmlformats.org/drawingml/2006/main"/>
        </p:blipFill>
        <p:spPr>
          <a:xfrm xmlns:a="http://schemas.openxmlformats.org/drawingml/2006/main">
            <a:off x="1809750" y="2990850"/>
            <a:ext cx="1885950" cy="1885950"/>
          </a:xfrm>
          <a:prstGeom xmlns:a="http://schemas.openxmlformats.org/drawingml/2006/main" prst="rect">
            <a:avLst/>
          </a:prstGeom>
        </p:spPr>
      </p:pic>
      <p:sp>
        <p:nvSpPr>
          <p:cNvPr id="7" name="x-top">
            <a:extLst xmlns:a="http://schemas.openxmlformats.org/drawingml/2006/main">
              <a:ext uri="{FF2B5EF4-FFF2-40B4-BE49-F238E27FC236}">
                <a16:creationId xmlns:a16="http://schemas.microsoft.com/office/drawing/2014/main" id="{209F83A2-AE69-4488-A21D-9DF3CB44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21145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X</a:t>
            </a:r>
          </a:p>
        </p:txBody>
      </p:sp>
      <p:sp>
        <p:nvSpPr>
          <p:cNvPr id="8" name="x-left">
            <a:extLst xmlns:a="http://schemas.openxmlformats.org/drawingml/2006/main">
              <a:ext uri="{FF2B5EF4-FFF2-40B4-BE49-F238E27FC236}">
                <a16:creationId xmlns:a16="http://schemas.microsoft.com/office/drawing/2014/main" id="{A19A91BF-FA53-45BC-894B-7C2BEDAA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37338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X</a:t>
            </a:r>
          </a:p>
        </p:txBody>
      </p:sp>
      <p:sp>
        <p:nvSpPr>
          <p:cNvPr id="9" name="clear-rule">
            <a:extLst xmlns:a="http://schemas.openxmlformats.org/drawingml/2006/main">
              <a:ext uri="{FF2B5EF4-FFF2-40B4-BE49-F238E27FC236}">
                <a16:creationId xmlns:a16="http://schemas.microsoft.com/office/drawing/2014/main" id="{24F5CA51-40C5-48D7-8B41-B501C76FF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9621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1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X = 1/4 of the mark width. Keep at least X clear on every side; use more when the surrounding layout is visually active.</a:t>
            </a:r>
          </a:p>
        </p:txBody>
      </p:sp>
      <p:sp>
        <p:nvSpPr>
          <p:cNvPr id="10" name="size-rule">
            <a:extLst xmlns:a="http://schemas.openxmlformats.org/drawingml/2006/main">
              <a:ext uri="{FF2B5EF4-FFF2-40B4-BE49-F238E27FC236}">
                <a16:creationId xmlns:a16="http://schemas.microsoft.com/office/drawing/2014/main" id="{EAC53C2E-2571-4D1D-8091-28A3E191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143250"/>
            <a:ext cx="581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inimum-label">
            <a:extLst xmlns:a="http://schemas.openxmlformats.org/drawingml/2006/main">
              <a:ext uri="{FF2B5EF4-FFF2-40B4-BE49-F238E27FC236}">
                <a16:creationId xmlns:a16="http://schemas.microsoft.com/office/drawing/2014/main" id="{D0611464-BFE7-4A1A-9FCB-636659BB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4861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MINIMUM SIZE</a:t>
            </a:r>
          </a:p>
        </p:txBody>
      </p:sp>
      <p:sp>
        <p:nvSpPr>
          <p:cNvPr id="12" name="min-val-0">
            <a:extLst xmlns:a="http://schemas.openxmlformats.org/drawingml/2006/main">
              <a:ext uri="{FF2B5EF4-FFF2-40B4-BE49-F238E27FC236}">
                <a16:creationId xmlns:a16="http://schemas.microsoft.com/office/drawing/2014/main" id="{D1C92758-D3F2-4EF0-8349-815BBE40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8481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rPr>
              <a:t>24 px</a:t>
            </a:r>
          </a:p>
        </p:txBody>
      </p:sp>
      <p:sp>
        <p:nvSpPr>
          <p:cNvPr id="13" name="min-desc-0">
            <a:extLst xmlns:a="http://schemas.openxmlformats.org/drawingml/2006/main">
              <a:ext uri="{FF2B5EF4-FFF2-40B4-BE49-F238E27FC236}">
                <a16:creationId xmlns:a16="http://schemas.microsoft.com/office/drawing/2014/main" id="{A0969490-477B-4523-8046-CC0F3937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3924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Digital mark</a:t>
            </a:r>
          </a:p>
        </p:txBody>
      </p:sp>
      <p:sp>
        <p:nvSpPr>
          <p:cNvPr id="14" name="min-val-1">
            <a:extLst xmlns:a="http://schemas.openxmlformats.org/drawingml/2006/main">
              <a:ext uri="{FF2B5EF4-FFF2-40B4-BE49-F238E27FC236}">
                <a16:creationId xmlns:a16="http://schemas.microsoft.com/office/drawing/2014/main" id="{CB9DBF7B-5765-4117-BBF1-A00C894C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384810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rPr>
              <a:t>120 px</a:t>
            </a:r>
          </a:p>
        </p:txBody>
      </p:sp>
      <p:sp>
        <p:nvSpPr>
          <p:cNvPr id="15" name="min-desc-1">
            <a:extLst xmlns:a="http://schemas.openxmlformats.org/drawingml/2006/main">
              <a:ext uri="{FF2B5EF4-FFF2-40B4-BE49-F238E27FC236}">
                <a16:creationId xmlns:a16="http://schemas.microsoft.com/office/drawing/2014/main" id="{FD9DCCB8-988F-4F37-B0C7-5D4D2CDC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924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Horizontal lockup</a:t>
            </a:r>
          </a:p>
        </p:txBody>
      </p:sp>
      <p:sp>
        <p:nvSpPr>
          <p:cNvPr id="16" name="min-val-2">
            <a:extLst xmlns:a="http://schemas.openxmlformats.org/drawingml/2006/main">
              <a:ext uri="{FF2B5EF4-FFF2-40B4-BE49-F238E27FC236}">
                <a16:creationId xmlns:a16="http://schemas.microsoft.com/office/drawing/2014/main" id="{5ED574E8-EE59-416D-A61D-1AE73E1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rPr>
              <a:t>8 mm</a:t>
            </a:r>
          </a:p>
        </p:txBody>
      </p:sp>
      <p:sp>
        <p:nvSpPr>
          <p:cNvPr id="17" name="min-desc-2">
            <a:extLst xmlns:a="http://schemas.openxmlformats.org/drawingml/2006/main">
              <a:ext uri="{FF2B5EF4-FFF2-40B4-BE49-F238E27FC236}">
                <a16:creationId xmlns:a16="http://schemas.microsoft.com/office/drawing/2014/main" id="{F63BAAC0-05E6-459C-BC1F-0901283B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7815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Printed mark</a:t>
            </a:r>
          </a:p>
        </p:txBody>
      </p:sp>
      <p:sp>
        <p:nvSpPr>
          <p:cNvPr id="18" name="min-val-3">
            <a:extLst xmlns:a="http://schemas.openxmlformats.org/drawingml/2006/main">
              <a:ext uri="{FF2B5EF4-FFF2-40B4-BE49-F238E27FC236}">
                <a16:creationId xmlns:a16="http://schemas.microsoft.com/office/drawing/2014/main" id="{3274E429-3A22-4843-A2D4-73D2580A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7053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3A2D64"/>
                </a:solidFill>
                <a:latin typeface="Avenir Next"/>
                <a:ea typeface="Avenir Next"/>
                <a:cs typeface="Avenir Next"/>
              </a:rPr>
              <a:t>32 mm</a:t>
            </a:r>
          </a:p>
        </p:txBody>
      </p:sp>
      <p:sp>
        <p:nvSpPr>
          <p:cNvPr id="19" name="min-desc-3">
            <a:extLst xmlns:a="http://schemas.openxmlformats.org/drawingml/2006/main">
              <a:ext uri="{FF2B5EF4-FFF2-40B4-BE49-F238E27FC236}">
                <a16:creationId xmlns:a16="http://schemas.microsoft.com/office/drawing/2014/main" id="{54723730-2A2D-4F8A-95ED-7BC5E9631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47815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Printed lockup</a:t>
            </a:r>
          </a:p>
        </p:txBody>
      </p:sp>
      <p:sp>
        <p:nvSpPr>
          <p:cNvPr id="20" name="size-caveat">
            <a:extLst xmlns:a="http://schemas.openxmlformats.org/drawingml/2006/main">
              <a:ext uri="{FF2B5EF4-FFF2-40B4-BE49-F238E27FC236}">
                <a16:creationId xmlns:a16="http://schemas.microsoft.com/office/drawing/2014/main" id="{6B00AA78-64AD-4EF2-8184-9A39193D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61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Below these sizes, use the mark only and verify the orbit arcs remain distinct.</a:t>
            </a:r>
          </a:p>
        </p:txBody>
      </p:sp>
      <p:sp>
        <p:nvSpPr>
          <p:cNvPr id="21" name="footer-7">
            <a:extLst xmlns:a="http://schemas.openxmlformats.org/drawingml/2006/main">
              <a:ext uri="{FF2B5EF4-FFF2-40B4-BE49-F238E27FC236}">
                <a16:creationId xmlns:a16="http://schemas.microsoft.com/office/drawing/2014/main" id="{9F20DC8B-216E-4249-AD54-36705FD3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22" name="page-7">
            <a:extLst xmlns:a="http://schemas.openxmlformats.org/drawingml/2006/main">
              <a:ext uri="{FF2B5EF4-FFF2-40B4-BE49-F238E27FC236}">
                <a16:creationId xmlns:a16="http://schemas.microsoft.com/office/drawing/2014/main" id="{ECC9544B-7E96-4AD7-A079-E6BFD922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01106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8">
            <a:extLst xmlns:a="http://schemas.openxmlformats.org/drawingml/2006/main">
              <a:ext uri="{FF2B5EF4-FFF2-40B4-BE49-F238E27FC236}">
                <a16:creationId xmlns:a16="http://schemas.microsoft.com/office/drawing/2014/main" id="{4A964A25-3007-48CD-B836-34443841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VISUAL LANGUAGE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C3138CA4-F914-49DC-BE92-DB5909EB8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Orbit. Direction. Calm containment.</a:t>
            </a:r>
          </a:p>
        </p:txBody>
      </p:sp>
      <p:sp>
        <p:nvSpPr>
          <p:cNvPr id="3" name="orbit-104-210">
            <a:extLst xmlns:a="http://schemas.openxmlformats.org/drawingml/2006/main">
              <a:ext uri="{FF2B5EF4-FFF2-40B4-BE49-F238E27FC236}">
                <a16:creationId xmlns:a16="http://schemas.microsoft.com/office/drawing/2014/main" id="{1A2DD0D0-12B5-4223-BD2F-11B05D3B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2000250"/>
            <a:ext cx="1905000" cy="1905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84B7"/>
            </a:solidFill>
            <a:prstDash val="solid"/>
          </a:ln>
        </p:spPr>
      </p:sp>
      <p:sp>
        <p:nvSpPr>
          <p:cNvPr id="4" name="slash-a-104-210">
            <a:extLst xmlns:a="http://schemas.openxmlformats.org/drawingml/2006/main">
              <a:ext uri="{FF2B5EF4-FFF2-40B4-BE49-F238E27FC236}">
                <a16:creationId xmlns:a16="http://schemas.microsoft.com/office/drawing/2014/main" id="{00670740-419A-4C18-B4A3-F7A32F10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1219200" y="2895600"/>
            <a:ext cx="1447800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ash-b-104-210">
            <a:extLst xmlns:a="http://schemas.openxmlformats.org/drawingml/2006/main">
              <a:ext uri="{FF2B5EF4-FFF2-40B4-BE49-F238E27FC236}">
                <a16:creationId xmlns:a16="http://schemas.microsoft.com/office/drawing/2014/main" id="{EB000A48-2EAE-40BB-8875-6E3DD1F0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80000">
            <a:off x="1219200" y="2895600"/>
            <a:ext cx="1447800" cy="1619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iagonal-stage">
            <a:extLst xmlns:a="http://schemas.openxmlformats.org/drawingml/2006/main">
              <a:ext uri="{FF2B5EF4-FFF2-40B4-BE49-F238E27FC236}">
                <a16:creationId xmlns:a16="http://schemas.microsoft.com/office/drawing/2014/main" id="{B38CD4EF-857C-48FC-BB43-DFDE9514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2209800"/>
            <a:ext cx="2171700" cy="14859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agonal-a">
            <a:extLst xmlns:a="http://schemas.openxmlformats.org/drawingml/2006/main">
              <a:ext uri="{FF2B5EF4-FFF2-40B4-BE49-F238E27FC236}">
                <a16:creationId xmlns:a16="http://schemas.microsoft.com/office/drawing/2014/main" id="{DF7A6CF6-4C00-4C9D-985C-F244B42C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680000">
            <a:off x="4695825" y="2800350"/>
            <a:ext cx="2000250" cy="190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unded-one">
            <a:extLst xmlns:a="http://schemas.openxmlformats.org/drawingml/2006/main">
              <a:ext uri="{FF2B5EF4-FFF2-40B4-BE49-F238E27FC236}">
                <a16:creationId xmlns:a16="http://schemas.microsoft.com/office/drawing/2014/main" id="{4ABBB55D-A09D-4096-AA80-B865EA85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2133600"/>
            <a:ext cx="2457450" cy="16764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unded-two">
            <a:extLst xmlns:a="http://schemas.openxmlformats.org/drawingml/2006/main">
              <a:ext uri="{FF2B5EF4-FFF2-40B4-BE49-F238E27FC236}">
                <a16:creationId xmlns:a16="http://schemas.microsoft.com/office/drawing/2014/main" id="{DD310D1C-D855-48DD-96A2-D7FF6464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552700"/>
            <a:ext cx="2457450" cy="1676400"/>
          </a:xfrm>
          <a:prstGeom xmlns:a="http://schemas.openxmlformats.org/drawingml/2006/main" prst="roundRect">
            <a:avLst>
              <a:gd name="adj" fmla="val 14773"/>
            </a:avLst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visual-title-0">
            <a:extLst xmlns:a="http://schemas.openxmlformats.org/drawingml/2006/main">
              <a:ext uri="{FF2B5EF4-FFF2-40B4-BE49-F238E27FC236}">
                <a16:creationId xmlns:a16="http://schemas.microsoft.com/office/drawing/2014/main" id="{8E14A008-6A16-43D0-BA8B-0841340B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3053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Orbit arcs</a:t>
            </a:r>
          </a:p>
        </p:txBody>
      </p:sp>
      <p:sp>
        <p:nvSpPr>
          <p:cNvPr id="11" name="visual-desc-0">
            <a:extLst xmlns:a="http://schemas.openxmlformats.org/drawingml/2006/main">
              <a:ext uri="{FF2B5EF4-FFF2-40B4-BE49-F238E27FC236}">
                <a16:creationId xmlns:a16="http://schemas.microsoft.com/office/drawing/2014/main" id="{9D79215F-6373-47B0-814C-D3F41435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72440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rPr>
              <a:t>Use partial rings to signal progress, connection, or an active workflow.</a:t>
            </a:r>
          </a:p>
        </p:txBody>
      </p:sp>
      <p:sp>
        <p:nvSpPr>
          <p:cNvPr id="12" name="visual-title-1">
            <a:extLst xmlns:a="http://schemas.openxmlformats.org/drawingml/2006/main">
              <a:ext uri="{FF2B5EF4-FFF2-40B4-BE49-F238E27FC236}">
                <a16:creationId xmlns:a16="http://schemas.microsoft.com/office/drawing/2014/main" id="{FF89705A-1AFB-4E56-9430-4438748B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3053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Confident diagonals</a:t>
            </a:r>
          </a:p>
        </p:txBody>
      </p:sp>
      <p:sp>
        <p:nvSpPr>
          <p:cNvPr id="13" name="visual-desc-1">
            <a:extLst xmlns:a="http://schemas.openxmlformats.org/drawingml/2006/main">
              <a:ext uri="{FF2B5EF4-FFF2-40B4-BE49-F238E27FC236}">
                <a16:creationId xmlns:a16="http://schemas.microsoft.com/office/drawing/2014/main" id="{5D17F306-D852-4142-9074-77591947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72440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rPr>
              <a:t>Use one directional stroke to add momentum - never a tangle of competing angles.</a:t>
            </a:r>
          </a:p>
        </p:txBody>
      </p:sp>
      <p:sp>
        <p:nvSpPr>
          <p:cNvPr id="14" name="visual-title-2">
            <a:extLst xmlns:a="http://schemas.openxmlformats.org/drawingml/2006/main">
              <a:ext uri="{FF2B5EF4-FFF2-40B4-BE49-F238E27FC236}">
                <a16:creationId xmlns:a16="http://schemas.microsoft.com/office/drawing/2014/main" id="{3D09811F-4BCD-4100-8667-8C174334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43053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Rounded surfaces</a:t>
            </a:r>
          </a:p>
        </p:txBody>
      </p:sp>
      <p:sp>
        <p:nvSpPr>
          <p:cNvPr id="15" name="visual-desc-2">
            <a:extLst xmlns:a="http://schemas.openxmlformats.org/drawingml/2006/main">
              <a:ext uri="{FF2B5EF4-FFF2-40B4-BE49-F238E27FC236}">
                <a16:creationId xmlns:a16="http://schemas.microsoft.com/office/drawing/2014/main" id="{B9A0F4D3-6205-4E76-8AA8-931B02F03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4724400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  <a:def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rPr>
              <a:t>Use 16-24 px radii for panels and app tiles; pair with quiet, generous spacing.</a:t>
            </a:r>
          </a:p>
        </p:txBody>
      </p:sp>
      <p:sp>
        <p:nvSpPr>
          <p:cNvPr id="16" name="background-rule">
            <a:extLst xmlns:a="http://schemas.openxmlformats.org/drawingml/2006/main">
              <a:ext uri="{FF2B5EF4-FFF2-40B4-BE49-F238E27FC236}">
                <a16:creationId xmlns:a16="http://schemas.microsoft.com/office/drawing/2014/main" id="{F94BAFCF-8EF0-4345-90A3-06F3AF56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8102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E84B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E84B7"/>
                </a:solidFill>
                <a:latin typeface="Avenir Next"/>
                <a:ea typeface="Avenir Next"/>
                <a:cs typeface="Avenir Next"/>
              </a:rPr>
              <a:t>Background rule: prefer White, Mist, or Ink. On photography, place the logo on a quiet solid field - never directly over visual noise.</a:t>
            </a:r>
          </a:p>
        </p:txBody>
      </p:sp>
      <p:sp>
        <p:nvSpPr>
          <p:cNvPr id="17" name="footer-8">
            <a:extLst xmlns:a="http://schemas.openxmlformats.org/drawingml/2006/main">
              <a:ext uri="{FF2B5EF4-FFF2-40B4-BE49-F238E27FC236}">
                <a16:creationId xmlns:a16="http://schemas.microsoft.com/office/drawing/2014/main" id="{A49DCDA8-267A-4F9E-85DB-9A93452CF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FC5D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FC5D3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18" name="page-8">
            <a:extLst xmlns:a="http://schemas.openxmlformats.org/drawingml/2006/main">
              <a:ext uri="{FF2B5EF4-FFF2-40B4-BE49-F238E27FC236}">
                <a16:creationId xmlns:a16="http://schemas.microsoft.com/office/drawing/2014/main" id="{13851FCB-0906-4011-AC91-2B2B1672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CFC5D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CFC5D3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240129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9">
            <a:extLst xmlns:a="http://schemas.openxmlformats.org/drawingml/2006/main">
              <a:ext uri="{FF2B5EF4-FFF2-40B4-BE49-F238E27FC236}">
                <a16:creationId xmlns:a16="http://schemas.microsoft.com/office/drawing/2014/main" id="{2C0E440D-6B5A-4146-A668-5C45C2F29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USAGE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04D635F-48D6-43C1-A28B-E5ECA172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Protect recognition through consistency.</a:t>
            </a:r>
          </a:p>
        </p:txBody>
      </p:sp>
      <p:sp>
        <p:nvSpPr>
          <p:cNvPr id="3" name="do-side">
            <a:extLst xmlns:a="http://schemas.openxmlformats.org/drawingml/2006/main">
              <a:ext uri="{FF2B5EF4-FFF2-40B4-BE49-F238E27FC236}">
                <a16:creationId xmlns:a16="http://schemas.microsoft.com/office/drawing/2014/main" id="{61A2E622-AC72-4234-8E7A-FC5E10A3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19250"/>
            <a:ext cx="5181600" cy="4286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ont-side">
            <a:extLst xmlns:a="http://schemas.openxmlformats.org/drawingml/2006/main">
              <a:ext uri="{FF2B5EF4-FFF2-40B4-BE49-F238E27FC236}">
                <a16:creationId xmlns:a16="http://schemas.microsoft.com/office/drawing/2014/main" id="{4A1B0DF3-DC8D-47EA-830B-76601D9C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1619250"/>
            <a:ext cx="5181600" cy="42862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BF3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o-label">
            <a:extLst xmlns:a="http://schemas.openxmlformats.org/drawingml/2006/main">
              <a:ext uri="{FF2B5EF4-FFF2-40B4-BE49-F238E27FC236}">
                <a16:creationId xmlns:a16="http://schemas.microsoft.com/office/drawing/2014/main" id="{E0977760-AF3E-4298-8D87-11C09117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1847850"/>
            <a:ext cx="95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D6A55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2D6A55"/>
                </a:solidFill>
                <a:latin typeface="Avenir Next"/>
                <a:ea typeface="Avenir Next"/>
                <a:cs typeface="Avenir Next"/>
              </a:rPr>
              <a:t>DO</a:t>
            </a:r>
          </a:p>
        </p:txBody>
      </p:sp>
      <p:sp>
        <p:nvSpPr>
          <p:cNvPr id="6" name="dont-label">
            <a:extLst xmlns:a="http://schemas.openxmlformats.org/drawingml/2006/main">
              <a:ext uri="{FF2B5EF4-FFF2-40B4-BE49-F238E27FC236}">
                <a16:creationId xmlns:a16="http://schemas.microsoft.com/office/drawing/2014/main" id="{8FD196AC-2FFB-4F46-B3E5-ED8BACFD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4600" y="1847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B44757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B44757"/>
                </a:solidFill>
                <a:latin typeface="Avenir Next"/>
                <a:ea typeface="Avenir Next"/>
                <a:cs typeface="Avenir Next"/>
              </a:rPr>
              <a:t>DON'T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605ef6e684c17"/>
          <a:stretch xmlns:a="http://schemas.openxmlformats.org/drawingml/2006/main"/>
        </p:blipFill>
        <p:spPr>
          <a:xfrm xmlns:a="http://schemas.openxmlformats.org/drawingml/2006/main">
            <a:off x="1028700" y="2362200"/>
            <a:ext cx="1428750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do-copy">
            <a:extLst xmlns:a="http://schemas.openxmlformats.org/drawingml/2006/main">
              <a:ext uri="{FF2B5EF4-FFF2-40B4-BE49-F238E27FC236}">
                <a16:creationId xmlns:a16="http://schemas.microsoft.com/office/drawing/2014/main" id="{E9383791-5B71-4BBF-875B-DE1AE43E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2250" y="2343150"/>
            <a:ext cx="26860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8000"/>
              </a:lnSpc>
              <a:buNone/>
              <a:def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Use the original artwork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Preserve aspect ratio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Maintain clear space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Use approved backgrounds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Use monochrome only when required</a:t>
            </a:r>
          </a:p>
        </p:txBody>
      </p:sp>
      <p:sp>
        <p:nvSpPr>
          <p:cNvPr id="9" name="busy-a">
            <a:extLst xmlns:a="http://schemas.openxmlformats.org/drawingml/2006/main">
              <a:ext uri="{FF2B5EF4-FFF2-40B4-BE49-F238E27FC236}">
                <a16:creationId xmlns:a16="http://schemas.microsoft.com/office/drawing/2014/main" id="{DA60B85A-834E-4DAA-AA40-A842BC684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">
            <a:off x="6419850" y="24003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usy-b">
            <a:extLst xmlns:a="http://schemas.openxmlformats.org/drawingml/2006/main">
              <a:ext uri="{FF2B5EF4-FFF2-40B4-BE49-F238E27FC236}">
                <a16:creationId xmlns:a16="http://schemas.microsoft.com/office/drawing/2014/main" id="{FAB2F9D0-A2ED-4E79-A616-ED9A897B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080000">
            <a:off x="6419850" y="28194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sy-c">
            <a:extLst xmlns:a="http://schemas.openxmlformats.org/drawingml/2006/main">
              <a:ext uri="{FF2B5EF4-FFF2-40B4-BE49-F238E27FC236}">
                <a16:creationId xmlns:a16="http://schemas.microsoft.com/office/drawing/2014/main" id="{FDD87D45-B03A-4973-962B-D911CF6D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">
            <a:off x="6419850" y="32385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699be6cd42426e"/>
          <a:srcRect xmlns:a="http://schemas.openxmlformats.org/drawingml/2006/main" l="0" t="26147" r="0" b="261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2543175"/>
            <a:ext cx="2076450" cy="990600"/>
          </a:xfrm>
          <a:prstGeom xmlns:a="http://schemas.openxmlformats.org/drawingml/2006/main" prst="rect">
            <a:avLst/>
          </a:prstGeom>
        </p:spPr>
      </p:pic>
      <p:sp>
        <p:nvSpPr>
          <p:cNvPr id="13" name="dont-copy">
            <a:extLst xmlns:a="http://schemas.openxmlformats.org/drawingml/2006/main">
              <a:ext uri="{FF2B5EF4-FFF2-40B4-BE49-F238E27FC236}">
                <a16:creationId xmlns:a16="http://schemas.microsoft.com/office/drawing/2014/main" id="{0B380ED0-701F-4437-8DD9-7CD8929D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2343150"/>
            <a:ext cx="20955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Do not stretch or rotate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Do not recolor arbitrarily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Do not add shadows or outlines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Do not place over busy imagery</a:t>
            </a:r>
          </a:p>
          <a:p xmlns:a="http://schemas.openxmlformats.org/drawingml/2006/main">
            <a:pPr algn="l">
              <a:lnSpc>
                <a:spcPct val="148000"/>
              </a:lnSpc>
              <a:buNone/>
              <a:def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Do not separate mark components</a:t>
            </a:r>
          </a:p>
        </p:txBody>
      </p:sp>
      <p:sp>
        <p:nvSpPr>
          <p:cNvPr id="14" name="dont-strike">
            <a:extLst xmlns:a="http://schemas.openxmlformats.org/drawingml/2006/main">
              <a:ext uri="{FF2B5EF4-FFF2-40B4-BE49-F238E27FC236}">
                <a16:creationId xmlns:a16="http://schemas.microsoft.com/office/drawing/2014/main" id="{523475BC-B004-432A-9D74-74108A77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0">
            <a:off x="6572250" y="2943225"/>
            <a:ext cx="2381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4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st-rule">
            <a:extLst xmlns:a="http://schemas.openxmlformats.org/drawingml/2006/main">
              <a:ext uri="{FF2B5EF4-FFF2-40B4-BE49-F238E27FC236}">
                <a16:creationId xmlns:a16="http://schemas.microsoft.com/office/drawing/2014/main" id="{E554BF83-941E-4F98-A5C8-6B7C3C77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1816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Quick test: if the central crossing or orbit arcs lose clarity, increase size, contrast, or surrounding space.</a:t>
            </a:r>
          </a:p>
        </p:txBody>
      </p:sp>
      <p:sp>
        <p:nvSpPr>
          <p:cNvPr id="16" name="footer-9">
            <a:extLst xmlns:a="http://schemas.openxmlformats.org/drawingml/2006/main">
              <a:ext uri="{FF2B5EF4-FFF2-40B4-BE49-F238E27FC236}">
                <a16:creationId xmlns:a16="http://schemas.microsoft.com/office/drawing/2014/main" id="{241EE2AA-28CE-4E77-ABD8-6E5698AF6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17" name="page-9">
            <a:extLst xmlns:a="http://schemas.openxmlformats.org/drawingml/2006/main">
              <a:ext uri="{FF2B5EF4-FFF2-40B4-BE49-F238E27FC236}">
                <a16:creationId xmlns:a16="http://schemas.microsoft.com/office/drawing/2014/main" id="{5D4B458B-B518-4911-8F33-B95D5877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2999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10">
            <a:extLst xmlns:a="http://schemas.openxmlformats.org/drawingml/2006/main">
              <a:ext uri="{FF2B5EF4-FFF2-40B4-BE49-F238E27FC236}">
                <a16:creationId xmlns:a16="http://schemas.microsoft.com/office/drawing/2014/main" id="{4A26D0C8-1ECB-4715-ACD2-167F65B9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APPLICATION / PRODUCT UI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979EC9F-B052-438C-AA95-8C88159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Brand guides the workflow.</a:t>
            </a:r>
          </a:p>
        </p:txBody>
      </p:sp>
      <p:sp>
        <p:nvSpPr>
          <p:cNvPr id="3" name="ui-window">
            <a:extLst xmlns:a="http://schemas.openxmlformats.org/drawingml/2006/main">
              <a:ext uri="{FF2B5EF4-FFF2-40B4-BE49-F238E27FC236}">
                <a16:creationId xmlns:a16="http://schemas.microsoft.com/office/drawing/2014/main" id="{8821D354-E82C-4C09-A191-ACA9B1F2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19250"/>
            <a:ext cx="10648950" cy="4362450"/>
          </a:xfrm>
          <a:prstGeom xmlns:a="http://schemas.openxmlformats.org/drawingml/2006/main" prst="roundRect">
            <a:avLst>
              <a:gd name="adj" fmla="val 48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ui-topbar">
            <a:extLst xmlns:a="http://schemas.openxmlformats.org/drawingml/2006/main">
              <a:ext uri="{FF2B5EF4-FFF2-40B4-BE49-F238E27FC236}">
                <a16:creationId xmlns:a16="http://schemas.microsoft.com/office/drawing/2014/main" id="{BFA96BBE-2677-4A14-9F31-EC7D4ABB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19250"/>
            <a:ext cx="10648950" cy="552450"/>
          </a:xfrm>
          <a:prstGeom xmlns:a="http://schemas.openxmlformats.org/drawingml/2006/main" prst="roundRect">
            <a:avLst>
              <a:gd name="adj" fmla="val 37931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i-topbar-mask">
            <a:extLst xmlns:a="http://schemas.openxmlformats.org/drawingml/2006/main">
              <a:ext uri="{FF2B5EF4-FFF2-40B4-BE49-F238E27FC236}">
                <a16:creationId xmlns:a16="http://schemas.microsoft.com/office/drawing/2014/main" id="{522896FF-6301-43FB-A587-43EE56D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962150"/>
            <a:ext cx="10648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f6c6060004556">
            <a:extLst>
              <a:ext uri="{96DAC541-7B7A-43D3-8B79-37D633B846F1}">
                <asvg:svgBlip xmlns:asvg="http://schemas.microsoft.com/office/drawing/2016/SVG/main" r:embed="R536ee627e4c344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" y="1714500"/>
            <a:ext cx="361950" cy="361950"/>
          </a:xfrm>
          <a:prstGeom xmlns:a="http://schemas.openxmlformats.org/drawingml/2006/main" prst="rect">
            <a:avLst/>
          </a:prstGeom>
        </p:spPr>
      </p:pic>
      <p:sp>
        <p:nvSpPr>
          <p:cNvPr id="7" name="ui-name">
            <a:extLst xmlns:a="http://schemas.openxmlformats.org/drawingml/2006/main">
              <a:ext uri="{FF2B5EF4-FFF2-40B4-BE49-F238E27FC236}">
                <a16:creationId xmlns:a16="http://schemas.microsoft.com/office/drawing/2014/main" id="{B5520FB6-8F1E-4330-9B47-D19FAAC9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1752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JusPrin</a:t>
            </a:r>
          </a:p>
        </p:txBody>
      </p:sp>
      <p:sp>
        <p:nvSpPr>
          <p:cNvPr id="8" name="ui-tabs">
            <a:extLst xmlns:a="http://schemas.openxmlformats.org/drawingml/2006/main">
              <a:ext uri="{FF2B5EF4-FFF2-40B4-BE49-F238E27FC236}">
                <a16:creationId xmlns:a16="http://schemas.microsoft.com/office/drawing/2014/main" id="{89C21D30-F177-47C9-A1CB-1264BA08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17811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CFC5D3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CFC5D3"/>
                </a:solidFill>
                <a:latin typeface="Menlo"/>
                <a:ea typeface="Menlo"/>
                <a:cs typeface="Menlo"/>
              </a:rPr>
              <a:t>PREPARE     PREVIEW     DEVICE</a:t>
            </a:r>
          </a:p>
        </p:txBody>
      </p:sp>
      <p:sp>
        <p:nvSpPr>
          <p:cNvPr id="9" name="ui-sidebar">
            <a:extLst xmlns:a="http://schemas.openxmlformats.org/drawingml/2006/main">
              <a:ext uri="{FF2B5EF4-FFF2-40B4-BE49-F238E27FC236}">
                <a16:creationId xmlns:a16="http://schemas.microsoft.com/office/drawing/2014/main" id="{E9FBDFE8-821F-4B38-B295-62869BCC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71700"/>
            <a:ext cx="21336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ui-project">
            <a:extLst xmlns:a="http://schemas.openxmlformats.org/drawingml/2006/main">
              <a:ext uri="{FF2B5EF4-FFF2-40B4-BE49-F238E27FC236}">
                <a16:creationId xmlns:a16="http://schemas.microsoft.com/office/drawing/2014/main" id="{4464852B-A218-4410-9BA9-D7117650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4384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PROJECT</a:t>
            </a:r>
          </a:p>
        </p:txBody>
      </p:sp>
      <p:sp>
        <p:nvSpPr>
          <p:cNvPr id="11" name="ui-file">
            <a:extLst xmlns:a="http://schemas.openxmlformats.org/drawingml/2006/main">
              <a:ext uri="{FF2B5EF4-FFF2-40B4-BE49-F238E27FC236}">
                <a16:creationId xmlns:a16="http://schemas.microsoft.com/office/drawing/2014/main" id="{2D751C66-538D-4E63-BA70-451E56BCD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2781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bracket_v4.stl</a:t>
            </a:r>
          </a:p>
        </p:txBody>
      </p:sp>
      <p:sp>
        <p:nvSpPr>
          <p:cNvPr id="12" name="ui-settings">
            <a:extLst xmlns:a="http://schemas.openxmlformats.org/drawingml/2006/main">
              <a:ext uri="{FF2B5EF4-FFF2-40B4-BE49-F238E27FC236}">
                <a16:creationId xmlns:a16="http://schemas.microsoft.com/office/drawing/2014/main" id="{B686ECE9-0AD5-4223-97E1-20A6E922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3314700"/>
            <a:ext cx="161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QUALITY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0.20 mm Standard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MATERIAL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PLA / Violet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SUPPORT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Build plate only</a:t>
            </a:r>
          </a:p>
        </p:txBody>
      </p:sp>
      <p:sp>
        <p:nvSpPr>
          <p:cNvPr id="13" name="build-plate">
            <a:extLst xmlns:a="http://schemas.openxmlformats.org/drawingml/2006/main">
              <a:ext uri="{FF2B5EF4-FFF2-40B4-BE49-F238E27FC236}">
                <a16:creationId xmlns:a16="http://schemas.microsoft.com/office/drawing/2014/main" id="{63046646-6480-4E0D-9F65-1E02C4CA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2609850"/>
            <a:ext cx="4686300" cy="26670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9525">
            <a:solidFill>
              <a:srgbClr val="E8DFEB"/>
            </a:solidFill>
            <a:prstDash val="solid"/>
          </a:ln>
        </p:spPr>
      </p:sp>
      <p:sp>
        <p:nvSpPr>
          <p:cNvPr id="14" name="orbit-492-314">
            <a:extLst xmlns:a="http://schemas.openxmlformats.org/drawingml/2006/main">
              <a:ext uri="{FF2B5EF4-FFF2-40B4-BE49-F238E27FC236}">
                <a16:creationId xmlns:a16="http://schemas.microsoft.com/office/drawing/2014/main" id="{F55EE8E4-7657-4592-8AC9-45CF631C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6300" y="2990850"/>
            <a:ext cx="1828800" cy="1828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DFEB"/>
            </a:solidFill>
            <a:prstDash val="solid"/>
          </a:ln>
        </p:spPr>
      </p:sp>
      <p:sp>
        <p:nvSpPr>
          <p:cNvPr id="15" name="slash-a-492-314">
            <a:extLst xmlns:a="http://schemas.openxmlformats.org/drawingml/2006/main">
              <a:ext uri="{FF2B5EF4-FFF2-40B4-BE49-F238E27FC236}">
                <a16:creationId xmlns:a16="http://schemas.microsoft.com/office/drawing/2014/main" id="{4D2CACF6-29F6-4C21-94A8-D0356D1D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4905756" y="3850386"/>
            <a:ext cx="1389888" cy="155448"/>
          </a:xfrm>
          <a:prstGeom xmlns:a="http://schemas.openxmlformats.org/drawingml/2006/main" prst="roundRect">
            <a:avLst>
              <a:gd name="adj" fmla="val 24510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lash-b-492-314">
            <a:extLst xmlns:a="http://schemas.openxmlformats.org/drawingml/2006/main">
              <a:ext uri="{FF2B5EF4-FFF2-40B4-BE49-F238E27FC236}">
                <a16:creationId xmlns:a16="http://schemas.microsoft.com/office/drawing/2014/main" id="{CA9834E5-0A45-48F6-85B5-8587FB9D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80000">
            <a:off x="4905756" y="3850386"/>
            <a:ext cx="1389888" cy="155448"/>
          </a:xfrm>
          <a:prstGeom xmlns:a="http://schemas.openxmlformats.org/drawingml/2006/main" prst="roundRect">
            <a:avLst>
              <a:gd name="adj" fmla="val 24510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model">
            <a:extLst xmlns:a="http://schemas.openxmlformats.org/drawingml/2006/main">
              <a:ext uri="{FF2B5EF4-FFF2-40B4-BE49-F238E27FC236}">
                <a16:creationId xmlns:a16="http://schemas.microsoft.com/office/drawing/2014/main" id="{F131F733-2F59-4AEA-8A06-9D4977BB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3467100"/>
            <a:ext cx="1428750" cy="10477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6F4F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ui-ready">
            <a:extLst xmlns:a="http://schemas.openxmlformats.org/drawingml/2006/main">
              <a:ext uri="{FF2B5EF4-FFF2-40B4-BE49-F238E27FC236}">
                <a16:creationId xmlns:a16="http://schemas.microsoft.com/office/drawing/2014/main" id="{E386E7A2-8CF6-4033-A685-1CCA58D2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25908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D6A55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2D6A55"/>
                </a:solidFill>
                <a:latin typeface="Menlo"/>
                <a:ea typeface="Menlo"/>
                <a:cs typeface="Menlo"/>
              </a:rPr>
              <a:t>READY TO PRINT</a:t>
            </a:r>
          </a:p>
        </p:txBody>
      </p:sp>
      <p:sp>
        <p:nvSpPr>
          <p:cNvPr id="19" name="ui-time">
            <a:extLst xmlns:a="http://schemas.openxmlformats.org/drawingml/2006/main">
              <a:ext uri="{FF2B5EF4-FFF2-40B4-BE49-F238E27FC236}">
                <a16:creationId xmlns:a16="http://schemas.microsoft.com/office/drawing/2014/main" id="{855DA1EB-B403-4F6A-9782-74C9120D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29908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53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1h 42m</a:t>
            </a:r>
          </a:p>
        </p:txBody>
      </p:sp>
      <p:sp>
        <p:nvSpPr>
          <p:cNvPr id="20" name="ui-meta">
            <a:extLst xmlns:a="http://schemas.openxmlformats.org/drawingml/2006/main">
              <a:ext uri="{FF2B5EF4-FFF2-40B4-BE49-F238E27FC236}">
                <a16:creationId xmlns:a16="http://schemas.microsoft.com/office/drawing/2014/main" id="{16AB4797-E8DE-4617-B1AA-9F1BDAE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358140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32.4 g material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0.18 mm first layer</a:t>
            </a:r>
          </a:p>
        </p:txBody>
      </p:sp>
      <p:sp>
        <p:nvSpPr>
          <p:cNvPr id="21" name="ui-cta">
            <a:extLst xmlns:a="http://schemas.openxmlformats.org/drawingml/2006/main">
              <a:ext uri="{FF2B5EF4-FFF2-40B4-BE49-F238E27FC236}">
                <a16:creationId xmlns:a16="http://schemas.microsoft.com/office/drawing/2014/main" id="{99876CDB-DBEA-4108-856B-573B5424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552950"/>
            <a:ext cx="2095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ui-cta-text">
            <a:extLst xmlns:a="http://schemas.openxmlformats.org/drawingml/2006/main">
              <a:ext uri="{FF2B5EF4-FFF2-40B4-BE49-F238E27FC236}">
                <a16:creationId xmlns:a16="http://schemas.microsoft.com/office/drawing/2014/main" id="{548A96AB-B84A-4DAD-94DD-2EEC8AE9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705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Slice &amp; print</a:t>
            </a:r>
          </a:p>
        </p:txBody>
      </p:sp>
      <p:sp>
        <p:nvSpPr>
          <p:cNvPr id="23" name="ui-guidance">
            <a:extLst xmlns:a="http://schemas.openxmlformats.org/drawingml/2006/main">
              <a:ext uri="{FF2B5EF4-FFF2-40B4-BE49-F238E27FC236}">
                <a16:creationId xmlns:a16="http://schemas.microsoft.com/office/drawing/2014/main" id="{F6716DBF-4F6E-4B18-8AA2-B12F2323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505450"/>
            <a:ext cx="7353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Use Orbit for decisive actions, Mist for working surfaces, and Bloom for small moments of emphasis.</a:t>
            </a:r>
          </a:p>
        </p:txBody>
      </p:sp>
      <p:sp>
        <p:nvSpPr>
          <p:cNvPr id="24" name="footer-10">
            <a:extLst xmlns:a="http://schemas.openxmlformats.org/drawingml/2006/main">
              <a:ext uri="{FF2B5EF4-FFF2-40B4-BE49-F238E27FC236}">
                <a16:creationId xmlns:a16="http://schemas.microsoft.com/office/drawing/2014/main" id="{D404EB63-8998-452B-86A2-E93531181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25" name="page-10">
            <a:extLst xmlns:a="http://schemas.openxmlformats.org/drawingml/2006/main">
              <a:ext uri="{FF2B5EF4-FFF2-40B4-BE49-F238E27FC236}">
                <a16:creationId xmlns:a16="http://schemas.microsoft.com/office/drawing/2014/main" id="{AC57F356-BC25-458C-82C0-6BB1A9D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04853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11">
            <a:extLst xmlns:a="http://schemas.openxmlformats.org/drawingml/2006/main">
              <a:ext uri="{FF2B5EF4-FFF2-40B4-BE49-F238E27FC236}">
                <a16:creationId xmlns:a16="http://schemas.microsoft.com/office/drawing/2014/main" id="{DF9D709D-AC6B-46A8-A173-E09DD53C6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4F84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6F4F84"/>
                </a:solidFill>
                <a:latin typeface="Menlo"/>
                <a:ea typeface="Menlo"/>
                <a:cs typeface="Menlo"/>
              </a:rPr>
              <a:t>APPLICATION / MARKETING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282E182B-1316-450B-B483-F948C7A2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Clarity leads. The mark creates motion.</a:t>
            </a:r>
          </a:p>
        </p:txBody>
      </p:sp>
      <p:sp>
        <p:nvSpPr>
          <p:cNvPr id="3" name="landing">
            <a:extLst xmlns:a="http://schemas.openxmlformats.org/drawingml/2006/main">
              <a:ext uri="{FF2B5EF4-FFF2-40B4-BE49-F238E27FC236}">
                <a16:creationId xmlns:a16="http://schemas.microsoft.com/office/drawing/2014/main" id="{A38EE9CA-9428-4A42-81CD-C5F1CFA7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1638300"/>
            <a:ext cx="6724650" cy="4248150"/>
          </a:xfrm>
          <a:prstGeom xmlns:a="http://schemas.openxmlformats.org/drawingml/2006/main" prst="roundRect">
            <a:avLst>
              <a:gd name="adj" fmla="val 4933"/>
            </a:avLst>
          </a:prstGeom>
          <a:solidFill xmlns:a="http://schemas.openxmlformats.org/drawingml/2006/main">
            <a:srgbClr val="F6F2F7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3e25b58da4916"/>
          <a:stretch xmlns:a="http://schemas.openxmlformats.org/drawingml/2006/main"/>
        </p:blipFill>
        <p:spPr>
          <a:xfrm xmlns:a="http://schemas.openxmlformats.org/drawingml/2006/main">
            <a:off x="910711" y="1847850"/>
            <a:ext cx="2541029" cy="781050"/>
          </a:xfrm>
          <a:prstGeom xmlns:a="http://schemas.openxmlformats.org/drawingml/2006/main" prst="rect">
            <a:avLst/>
          </a:prstGeom>
        </p:spPr>
      </p:pic>
      <p:sp>
        <p:nvSpPr>
          <p:cNvPr id="5" name="landing-headline">
            <a:extLst xmlns:a="http://schemas.openxmlformats.org/drawingml/2006/main">
              <a:ext uri="{FF2B5EF4-FFF2-40B4-BE49-F238E27FC236}">
                <a16:creationId xmlns:a16="http://schemas.microsoft.com/office/drawing/2014/main" id="{A79C9DF4-C1C7-4835-B90B-4FDA3FA1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285750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From model to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450" b="1">
                <a:solidFill>
                  <a:srgbClr val="17131F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17131F"/>
                </a:solidFill>
                <a:latin typeface="Avenir Next"/>
                <a:ea typeface="Avenir Next"/>
                <a:cs typeface="Avenir Next"/>
              </a:rPr>
              <a:t>first layer, faster.</a:t>
            </a:r>
          </a:p>
        </p:txBody>
      </p:sp>
      <p:sp>
        <p:nvSpPr>
          <p:cNvPr id="6" name="landing-body">
            <a:extLst xmlns:a="http://schemas.openxmlformats.org/drawingml/2006/main">
              <a:ext uri="{FF2B5EF4-FFF2-40B4-BE49-F238E27FC236}">
                <a16:creationId xmlns:a16="http://schemas.microsoft.com/office/drawing/2014/main" id="{08B4423F-C36E-4CD6-A0A4-F2B1200B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4171950"/>
            <a:ext cx="476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42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A focused printing workflow that keeps advanced controls close and the next action obvious.</a:t>
            </a:r>
          </a:p>
        </p:txBody>
      </p:sp>
      <p:sp>
        <p:nvSpPr>
          <p:cNvPr id="7" name="landing-cta">
            <a:extLst xmlns:a="http://schemas.openxmlformats.org/drawingml/2006/main">
              <a:ext uri="{FF2B5EF4-FFF2-40B4-BE49-F238E27FC236}">
                <a16:creationId xmlns:a16="http://schemas.microsoft.com/office/drawing/2014/main" id="{2108F88C-AE68-4B12-9FEA-D3328694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5162550"/>
            <a:ext cx="1790700" cy="495300"/>
          </a:xfrm>
          <a:prstGeom xmlns:a="http://schemas.openxmlformats.org/drawingml/2006/main" prst="roundRect">
            <a:avLst>
              <a:gd name="adj" fmla="val 26923"/>
            </a:avLst>
          </a:prstGeom>
          <a:solidFill xmlns:a="http://schemas.openxmlformats.org/drawingml/2006/main">
            <a:srgbClr val="3A2D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nding-cta-text">
            <a:extLst xmlns:a="http://schemas.openxmlformats.org/drawingml/2006/main">
              <a:ext uri="{FF2B5EF4-FFF2-40B4-BE49-F238E27FC236}">
                <a16:creationId xmlns:a16="http://schemas.microsoft.com/office/drawing/2014/main" id="{36111A3E-9D10-45B0-B84C-A2074D13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5295900"/>
            <a:ext cx="1790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Start printing</a:t>
            </a:r>
          </a:p>
        </p:txBody>
      </p:sp>
      <p:sp>
        <p:nvSpPr>
          <p:cNvPr id="9" name="orbit-556-370">
            <a:extLst xmlns:a="http://schemas.openxmlformats.org/drawingml/2006/main">
              <a:ext uri="{FF2B5EF4-FFF2-40B4-BE49-F238E27FC236}">
                <a16:creationId xmlns:a16="http://schemas.microsoft.com/office/drawing/2014/main" id="{92BCA41F-ABE5-46D7-A2C4-F03F49D6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5900" y="3524250"/>
            <a:ext cx="1619250" cy="1619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DFEB"/>
            </a:solidFill>
            <a:prstDash val="solid"/>
          </a:ln>
        </p:spPr>
      </p:sp>
      <p:sp>
        <p:nvSpPr>
          <p:cNvPr id="10" name="slash-a-556-370">
            <a:extLst xmlns:a="http://schemas.openxmlformats.org/drawingml/2006/main">
              <a:ext uri="{FF2B5EF4-FFF2-40B4-BE49-F238E27FC236}">
                <a16:creationId xmlns:a16="http://schemas.microsoft.com/office/drawing/2014/main" id="{C4A92465-23DC-4520-83A7-AE600F5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80000">
            <a:off x="5490210" y="4285298"/>
            <a:ext cx="1230630" cy="137636"/>
          </a:xfrm>
          <a:prstGeom xmlns:a="http://schemas.openxmlformats.org/drawingml/2006/main" prst="roundRect">
            <a:avLst>
              <a:gd name="adj" fmla="val 27682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lash-b-556-370">
            <a:extLst xmlns:a="http://schemas.openxmlformats.org/drawingml/2006/main">
              <a:ext uri="{FF2B5EF4-FFF2-40B4-BE49-F238E27FC236}">
                <a16:creationId xmlns:a16="http://schemas.microsoft.com/office/drawing/2014/main" id="{1382FEAB-78DA-420F-A2CC-894FE428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80000">
            <a:off x="5490210" y="4285298"/>
            <a:ext cx="1230630" cy="137636"/>
          </a:xfrm>
          <a:prstGeom xmlns:a="http://schemas.openxmlformats.org/drawingml/2006/main" prst="roundRect">
            <a:avLst>
              <a:gd name="adj" fmla="val 27682"/>
            </a:avLst>
          </a:prstGeom>
          <a:solidFill xmlns:a="http://schemas.openxmlformats.org/drawingml/2006/main">
            <a:srgbClr val="E8D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ocial">
            <a:extLst xmlns:a="http://schemas.openxmlformats.org/drawingml/2006/main">
              <a:ext uri="{FF2B5EF4-FFF2-40B4-BE49-F238E27FC236}">
                <a16:creationId xmlns:a16="http://schemas.microsoft.com/office/drawing/2014/main" id="{5617B828-2321-4A81-B654-EBEDA0D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1638300"/>
            <a:ext cx="3505200" cy="4248150"/>
          </a:xfrm>
          <a:prstGeom xmlns:a="http://schemas.openxmlformats.org/drawingml/2006/main" prst="roundRect">
            <a:avLst>
              <a:gd name="adj" fmla="val 5978"/>
            </a:avLst>
          </a:prstGeom>
          <a:solidFill xmlns:a="http://schemas.openxmlformats.org/drawingml/2006/main">
            <a:srgbClr val="17131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786d7c56b4066">
            <a:extLst>
              <a:ext uri="{96DAC541-7B7A-43D3-8B79-37D633B846F1}">
                <asvg:svgBlip xmlns:asvg="http://schemas.microsoft.com/office/drawing/2016/SVG/main" r:embed="R31bd7bcaa0a9409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39100" y="1924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social-name">
            <a:extLst xmlns:a="http://schemas.openxmlformats.org/drawingml/2006/main">
              <a:ext uri="{FF2B5EF4-FFF2-40B4-BE49-F238E27FC236}">
                <a16:creationId xmlns:a16="http://schemas.microsoft.com/office/drawing/2014/main" id="{1B3FD50D-8A7E-4ADE-B502-12D49E19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2057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JusPrin</a:t>
            </a:r>
          </a:p>
        </p:txBody>
      </p:sp>
      <p:sp>
        <p:nvSpPr>
          <p:cNvPr id="15" name="social-kicker">
            <a:extLst xmlns:a="http://schemas.openxmlformats.org/drawingml/2006/main">
              <a:ext uri="{FF2B5EF4-FFF2-40B4-BE49-F238E27FC236}">
                <a16:creationId xmlns:a16="http://schemas.microsoft.com/office/drawing/2014/main" id="{713FBB0A-8EB8-4D3F-942B-293D4B96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9908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PRINT WITH INTENT</a:t>
            </a:r>
          </a:p>
        </p:txBody>
      </p:sp>
      <p:sp>
        <p:nvSpPr>
          <p:cNvPr id="16" name="social-headline">
            <a:extLst xmlns:a="http://schemas.openxmlformats.org/drawingml/2006/main">
              <a:ext uri="{FF2B5EF4-FFF2-40B4-BE49-F238E27FC236}">
                <a16:creationId xmlns:a16="http://schemas.microsoft.com/office/drawing/2014/main" id="{86DD6374-DC08-4FA8-9BAE-FAD55D28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3352800"/>
            <a:ext cx="276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Fewer detours.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More making.</a:t>
            </a:r>
          </a:p>
        </p:txBody>
      </p:sp>
      <p:sp>
        <p:nvSpPr>
          <p:cNvPr id="17" name="social-body">
            <a:extLst xmlns:a="http://schemas.openxmlformats.org/drawingml/2006/main">
              <a:ext uri="{FF2B5EF4-FFF2-40B4-BE49-F238E27FC236}">
                <a16:creationId xmlns:a16="http://schemas.microsoft.com/office/drawing/2014/main" id="{D9073635-1B78-480E-92D4-4104A3BA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468630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CFC5D3"/>
                </a:solidFill>
                <a:latin typeface="Avenir Next"/>
                <a:ea typeface="Avenir Next"/>
                <a:cs typeface="Avenir Next"/>
              </a:rPr>
              <a:t>A clearer way to move from setup to a confident first layer.</a:t>
            </a:r>
          </a:p>
        </p:txBody>
      </p:sp>
      <p:sp>
        <p:nvSpPr>
          <p:cNvPr id="18" name="social-accent">
            <a:extLst xmlns:a="http://schemas.openxmlformats.org/drawingml/2006/main">
              <a:ext uri="{FF2B5EF4-FFF2-40B4-BE49-F238E27FC236}">
                <a16:creationId xmlns:a16="http://schemas.microsoft.com/office/drawing/2014/main" id="{226510EB-52A6-4326-A4F7-DD9A0860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5524500"/>
            <a:ext cx="11239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E84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11">
            <a:extLst xmlns:a="http://schemas.openxmlformats.org/drawingml/2006/main">
              <a:ext uri="{FF2B5EF4-FFF2-40B4-BE49-F238E27FC236}">
                <a16:creationId xmlns:a16="http://schemas.microsoft.com/office/drawing/2014/main" id="{0DAA0155-B51F-46B2-9442-F9AA266E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716979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20" name="page-11">
            <a:extLst xmlns:a="http://schemas.openxmlformats.org/drawingml/2006/main">
              <a:ext uri="{FF2B5EF4-FFF2-40B4-BE49-F238E27FC236}">
                <a16:creationId xmlns:a16="http://schemas.microsoft.com/office/drawing/2014/main" id="{587C3953-7DF1-474C-AE04-D20F84CF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1697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716979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7632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3A2D6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12">
            <a:extLst xmlns:a="http://schemas.openxmlformats.org/drawingml/2006/main">
              <a:ext uri="{FF2B5EF4-FFF2-40B4-BE49-F238E27FC236}">
                <a16:creationId xmlns:a16="http://schemas.microsoft.com/office/drawing/2014/main" id="{8463355B-F5D6-4E5E-98E1-4EA641CF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572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QUICK REFERENCE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E2284864-CDC0-4E65-ABDA-5E016024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Keep JusPrin focused and unmistakable.</a:t>
            </a:r>
          </a:p>
        </p:txBody>
      </p:sp>
      <p:sp>
        <p:nvSpPr>
          <p:cNvPr id="3" name="rule-num-0">
            <a:extLst xmlns:a="http://schemas.openxmlformats.org/drawingml/2006/main">
              <a:ext uri="{FF2B5EF4-FFF2-40B4-BE49-F238E27FC236}">
                <a16:creationId xmlns:a16="http://schemas.microsoft.com/office/drawing/2014/main" id="{6D17D413-423D-4292-B152-EE27258D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17907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rule-title-0">
            <a:extLst xmlns:a="http://schemas.openxmlformats.org/drawingml/2006/main">
              <a:ext uri="{FF2B5EF4-FFF2-40B4-BE49-F238E27FC236}">
                <a16:creationId xmlns:a16="http://schemas.microsoft.com/office/drawing/2014/main" id="{EC921B3B-A534-4CFD-86BB-5FC60D04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17716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Anchor with the original mark</a:t>
            </a:r>
          </a:p>
        </p:txBody>
      </p:sp>
      <p:sp>
        <p:nvSpPr>
          <p:cNvPr id="5" name="rule-desc-0">
            <a:extLst xmlns:a="http://schemas.openxmlformats.org/drawingml/2006/main">
              <a:ext uri="{FF2B5EF4-FFF2-40B4-BE49-F238E27FC236}">
                <a16:creationId xmlns:a16="http://schemas.microsoft.com/office/drawing/2014/main" id="{95588CED-D9C5-4870-8B09-16C9A499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1790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rPr>
              <a:t>Never redraw or separate its parts.</a:t>
            </a:r>
          </a:p>
        </p:txBody>
      </p:sp>
      <p:sp>
        <p:nvSpPr>
          <p:cNvPr id="6" name="rule-line-0">
            <a:extLst xmlns:a="http://schemas.openxmlformats.org/drawingml/2006/main">
              <a:ext uri="{FF2B5EF4-FFF2-40B4-BE49-F238E27FC236}">
                <a16:creationId xmlns:a16="http://schemas.microsoft.com/office/drawing/2014/main" id="{BBC617B9-55EA-4F15-B942-32F2E5BD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3145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le-num-1">
            <a:extLst xmlns:a="http://schemas.openxmlformats.org/drawingml/2006/main">
              <a:ext uri="{FF2B5EF4-FFF2-40B4-BE49-F238E27FC236}">
                <a16:creationId xmlns:a16="http://schemas.microsoft.com/office/drawing/2014/main" id="{C40FAB7D-89B7-493E-B88E-E59D06A9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6289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8" name="rule-title-1">
            <a:extLst xmlns:a="http://schemas.openxmlformats.org/drawingml/2006/main">
              <a:ext uri="{FF2B5EF4-FFF2-40B4-BE49-F238E27FC236}">
                <a16:creationId xmlns:a16="http://schemas.microsoft.com/office/drawing/2014/main" id="{7A406CDF-6058-4D80-9850-D602395F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26098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Use the purple spectrum with restraint</a:t>
            </a:r>
          </a:p>
        </p:txBody>
      </p:sp>
      <p:sp>
        <p:nvSpPr>
          <p:cNvPr id="9" name="rule-desc-1">
            <a:extLst xmlns:a="http://schemas.openxmlformats.org/drawingml/2006/main">
              <a:ext uri="{FF2B5EF4-FFF2-40B4-BE49-F238E27FC236}">
                <a16:creationId xmlns:a16="http://schemas.microsoft.com/office/drawing/2014/main" id="{3032C84B-2649-4F74-A2CA-05687E41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6289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rPr>
              <a:t>Orbit leads; Bloom accents.</a:t>
            </a:r>
          </a:p>
        </p:txBody>
      </p:sp>
      <p:sp>
        <p:nvSpPr>
          <p:cNvPr id="10" name="rule-line-1">
            <a:extLst xmlns:a="http://schemas.openxmlformats.org/drawingml/2006/main">
              <a:ext uri="{FF2B5EF4-FFF2-40B4-BE49-F238E27FC236}">
                <a16:creationId xmlns:a16="http://schemas.microsoft.com/office/drawing/2014/main" id="{0DA9D4D2-D0FF-4178-BF9C-27ADE627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1527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ule-num-2">
            <a:extLst xmlns:a="http://schemas.openxmlformats.org/drawingml/2006/main">
              <a:ext uri="{FF2B5EF4-FFF2-40B4-BE49-F238E27FC236}">
                <a16:creationId xmlns:a16="http://schemas.microsoft.com/office/drawing/2014/main" id="{8E580E2B-531E-4275-B1A4-6B23E453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34671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2" name="rule-title-2">
            <a:extLst xmlns:a="http://schemas.openxmlformats.org/drawingml/2006/main">
              <a:ext uri="{FF2B5EF4-FFF2-40B4-BE49-F238E27FC236}">
                <a16:creationId xmlns:a16="http://schemas.microsoft.com/office/drawing/2014/main" id="{77AB475F-2993-4FEA-A12E-BAB1B8C3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4480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Write JusPrin exactly this way</a:t>
            </a:r>
          </a:p>
        </p:txBody>
      </p:sp>
      <p:sp>
        <p:nvSpPr>
          <p:cNvPr id="13" name="rule-desc-2">
            <a:extLst xmlns:a="http://schemas.openxmlformats.org/drawingml/2006/main">
              <a:ext uri="{FF2B5EF4-FFF2-40B4-BE49-F238E27FC236}">
                <a16:creationId xmlns:a16="http://schemas.microsoft.com/office/drawing/2014/main" id="{62C8032E-CE89-4C7B-A568-C0F6329B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4671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rPr>
              <a:t>Capital J and P, no space.</a:t>
            </a:r>
          </a:p>
        </p:txBody>
      </p:sp>
      <p:sp>
        <p:nvSpPr>
          <p:cNvPr id="14" name="rule-line-2">
            <a:extLst xmlns:a="http://schemas.openxmlformats.org/drawingml/2006/main">
              <a:ext uri="{FF2B5EF4-FFF2-40B4-BE49-F238E27FC236}">
                <a16:creationId xmlns:a16="http://schemas.microsoft.com/office/drawing/2014/main" id="{61DFD1F0-203F-45CE-BC8A-5D035D0D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39909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-num-3">
            <a:extLst xmlns:a="http://schemas.openxmlformats.org/drawingml/2006/main">
              <a:ext uri="{FF2B5EF4-FFF2-40B4-BE49-F238E27FC236}">
                <a16:creationId xmlns:a16="http://schemas.microsoft.com/office/drawing/2014/main" id="{B24EFE97-DFAA-4F9D-92D2-2B54502B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3053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6" name="rule-title-3">
            <a:extLst xmlns:a="http://schemas.openxmlformats.org/drawingml/2006/main">
              <a:ext uri="{FF2B5EF4-FFF2-40B4-BE49-F238E27FC236}">
                <a16:creationId xmlns:a16="http://schemas.microsoft.com/office/drawing/2014/main" id="{5B4B1EF1-2E21-4412-9B82-495430B3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2862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Protect space and contrast</a:t>
            </a:r>
          </a:p>
        </p:txBody>
      </p:sp>
      <p:sp>
        <p:nvSpPr>
          <p:cNvPr id="17" name="rule-desc-3">
            <a:extLst xmlns:a="http://schemas.openxmlformats.org/drawingml/2006/main">
              <a:ext uri="{FF2B5EF4-FFF2-40B4-BE49-F238E27FC236}">
                <a16:creationId xmlns:a16="http://schemas.microsoft.com/office/drawing/2014/main" id="{4592B82A-3428-4E4A-86DB-959037F9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4305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rPr>
              <a:t>Clarity wins over visual novelty.</a:t>
            </a:r>
          </a:p>
        </p:txBody>
      </p:sp>
      <p:sp>
        <p:nvSpPr>
          <p:cNvPr id="18" name="rule-line-3">
            <a:extLst xmlns:a="http://schemas.openxmlformats.org/drawingml/2006/main">
              <a:ext uri="{FF2B5EF4-FFF2-40B4-BE49-F238E27FC236}">
                <a16:creationId xmlns:a16="http://schemas.microsoft.com/office/drawing/2014/main" id="{2F72D5ED-CF56-4996-B395-2BA323B3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4829175"/>
            <a:ext cx="895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ule-num-4">
            <a:extLst xmlns:a="http://schemas.openxmlformats.org/drawingml/2006/main">
              <a:ext uri="{FF2B5EF4-FFF2-40B4-BE49-F238E27FC236}">
                <a16:creationId xmlns:a16="http://schemas.microsoft.com/office/drawing/2014/main" id="{A29FC9EE-D0F3-481B-AFC8-0173AD22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514350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E84B7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CE84B7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20" name="rule-title-4">
            <a:extLst xmlns:a="http://schemas.openxmlformats.org/drawingml/2006/main">
              <a:ext uri="{FF2B5EF4-FFF2-40B4-BE49-F238E27FC236}">
                <a16:creationId xmlns:a16="http://schemas.microsoft.com/office/drawing/2014/main" id="{6F940898-C2F0-40D9-8145-067F380C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9700" y="5124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Make the next action obvious</a:t>
            </a:r>
          </a:p>
        </p:txBody>
      </p:sp>
      <p:sp>
        <p:nvSpPr>
          <p:cNvPr id="21" name="rule-desc-4">
            <a:extLst xmlns:a="http://schemas.openxmlformats.org/drawingml/2006/main">
              <a:ext uri="{FF2B5EF4-FFF2-40B4-BE49-F238E27FC236}">
                <a16:creationId xmlns:a16="http://schemas.microsoft.com/office/drawing/2014/main" id="{15A32475-A941-49D5-8C1E-9573B4B7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51435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D9CFDD"/>
                </a:solidFill>
                <a:latin typeface="Avenir Next"/>
                <a:ea typeface="Avenir Next"/>
                <a:cs typeface="Avenir Next"/>
              </a:rPr>
              <a:t>Brand behavior should feel as focused as the visuals.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a8948220147e2">
            <a:extLst>
              <a:ext uri="{96DAC541-7B7A-43D3-8B79-37D633B846F1}">
                <asvg:svgBlip xmlns:asvg="http://schemas.microsoft.com/office/drawing/2016/SVG/main" r:embed="Rdb88bca668de4dd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01250" y="4705350"/>
            <a:ext cx="1238250" cy="1238250"/>
          </a:xfrm>
          <a:prstGeom xmlns:a="http://schemas.openxmlformats.org/drawingml/2006/main" prst="rect">
            <a:avLst/>
          </a:prstGeom>
        </p:spPr>
      </p:pic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B24B4D33-106E-4361-85AF-5692E3D5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64770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FC5D3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CFC5D3"/>
                </a:solidFill>
                <a:latin typeface="Avenir Next"/>
                <a:ea typeface="Avenir Next"/>
                <a:cs typeface="Avenir Next"/>
              </a:rPr>
              <a:t>JusPrin visual brand kit</a:t>
            </a:r>
          </a:p>
        </p:txBody>
      </p:sp>
      <p:sp>
        <p:nvSpPr>
          <p:cNvPr id="24" name="page-12">
            <a:extLst xmlns:a="http://schemas.openxmlformats.org/drawingml/2006/main">
              <a:ext uri="{FF2B5EF4-FFF2-40B4-BE49-F238E27FC236}">
                <a16:creationId xmlns:a16="http://schemas.microsoft.com/office/drawing/2014/main" id="{4E05962F-989B-47E6-8D76-1284F46A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647700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CFC5D3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CFC5D3"/>
                </a:solidFill>
                <a:latin typeface="Menlo"/>
                <a:ea typeface="Menlo"/>
                <a:cs typeface="Menl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19203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2026-08-13T23:36:07.4040000Z</dcterms:created>
  <dcterms:modified xsi:type="dcterms:W3CDTF">2026-08-13T23:36:07.4040000Z</dcterms:modified>
</coreProperties>
</file>